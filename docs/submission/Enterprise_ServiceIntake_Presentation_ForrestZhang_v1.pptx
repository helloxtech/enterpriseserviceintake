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5ad3281c1941d0" /><Relationship Type="http://schemas.openxmlformats.org/officeDocument/2006/relationships/extended-properties" Target="/docProps/app.xml" Id="R8ea5fc12386b45e1" /><Relationship Type="http://schemas.openxmlformats.org/officeDocument/2006/relationships/officeDocument" Target="/ppt/presentation.xml" Id="R5b8d8ca2bfec44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713198fa8644d9"/>
  </p:sldMasterIdLst>
  <p:notesMasterIdLst>
    <p:notesMasterId xmlns:r="http://schemas.openxmlformats.org/officeDocument/2006/relationships" r:id="Rd9ee68a0c5384b70"/>
  </p:notesMasterIdLst>
  <p:sldIdLst>
    <p:sldId xmlns:r="http://schemas.openxmlformats.org/officeDocument/2006/relationships" id="256" r:id="R59d5c4884df14722"/>
    <p:sldId xmlns:r="http://schemas.openxmlformats.org/officeDocument/2006/relationships" id="257" r:id="R43f2736f09654fd8"/>
    <p:sldId xmlns:r="http://schemas.openxmlformats.org/officeDocument/2006/relationships" id="258" r:id="Rac13abfa2c754390"/>
    <p:sldId xmlns:r="http://schemas.openxmlformats.org/officeDocument/2006/relationships" id="259" r:id="Rd8e4dd1f816b498c"/>
    <p:sldId xmlns:r="http://schemas.openxmlformats.org/officeDocument/2006/relationships" id="260" r:id="Rb4b46ba2a0014ba5"/>
    <p:sldId xmlns:r="http://schemas.openxmlformats.org/officeDocument/2006/relationships" id="261" r:id="Rd0b6bdd303d2473a"/>
    <p:sldId xmlns:r="http://schemas.openxmlformats.org/officeDocument/2006/relationships" id="262" r:id="R154dbd62d1b746d1"/>
    <p:sldId xmlns:r="http://schemas.openxmlformats.org/officeDocument/2006/relationships" id="263" r:id="R7a9a66bc96ab46cf"/>
    <p:sldId xmlns:r="http://schemas.openxmlformats.org/officeDocument/2006/relationships" id="264" r:id="Rf238a3bba30a4310"/>
    <p:sldId xmlns:r="http://schemas.openxmlformats.org/officeDocument/2006/relationships" id="265" r:id="R98951753ef694a50"/>
    <p:sldId xmlns:r="http://schemas.openxmlformats.org/officeDocument/2006/relationships" id="266" r:id="R1ef573ca510a4ae7"/>
    <p:sldId xmlns:r="http://schemas.openxmlformats.org/officeDocument/2006/relationships" id="267" r:id="Ra4d8f645d75f46a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713198fa8644d9" /><Relationship Type="http://schemas.openxmlformats.org/officeDocument/2006/relationships/theme" Target="/ppt/theme/theme1.xml" Id="R577e218a539f4215" /><Relationship Type="http://schemas.openxmlformats.org/officeDocument/2006/relationships/notesMaster" Target="/ppt/notesMasters/notesMaster1.xml" Id="Rd9ee68a0c5384b70" /><Relationship Type="http://schemas.openxmlformats.org/officeDocument/2006/relationships/presProps" Target="/ppt/presProps.xml" Id="Ra7e94c95ea454542" /><Relationship Type="http://schemas.openxmlformats.org/officeDocument/2006/relationships/viewProps" Target="/ppt/viewProps.xml" Id="R8382f4078bbb4e9f" /><Relationship Type="http://schemas.openxmlformats.org/officeDocument/2006/relationships/tableStyles" Target="/ppt/tableStyles.xml" Id="Rc90c2581b03d42c0" /><Relationship Type="http://schemas.openxmlformats.org/officeDocument/2006/relationships/slide" Target="/ppt/slides/slide1.xml" Id="R59d5c4884df14722" /><Relationship Type="http://schemas.openxmlformats.org/officeDocument/2006/relationships/slide" Target="/ppt/slides/slide2.xml" Id="R43f2736f09654fd8" /><Relationship Type="http://schemas.openxmlformats.org/officeDocument/2006/relationships/slide" Target="/ppt/slides/slide3.xml" Id="Rac13abfa2c754390" /><Relationship Type="http://schemas.openxmlformats.org/officeDocument/2006/relationships/slide" Target="/ppt/slides/slide4.xml" Id="Rd8e4dd1f816b498c" /><Relationship Type="http://schemas.openxmlformats.org/officeDocument/2006/relationships/slide" Target="/ppt/slides/slide5.xml" Id="Rb4b46ba2a0014ba5" /><Relationship Type="http://schemas.openxmlformats.org/officeDocument/2006/relationships/slide" Target="/ppt/slides/slide6.xml" Id="Rd0b6bdd303d2473a" /><Relationship Type="http://schemas.openxmlformats.org/officeDocument/2006/relationships/slide" Target="/ppt/slides/slide7.xml" Id="R154dbd62d1b746d1" /><Relationship Type="http://schemas.openxmlformats.org/officeDocument/2006/relationships/slide" Target="/ppt/slides/slide8.xml" Id="R7a9a66bc96ab46cf" /><Relationship Type="http://schemas.openxmlformats.org/officeDocument/2006/relationships/slide" Target="/ppt/slides/slide9.xml" Id="Rf238a3bba30a4310" /><Relationship Type="http://schemas.openxmlformats.org/officeDocument/2006/relationships/slide" Target="/ppt/slides/slide10.xml" Id="R98951753ef694a50" /><Relationship Type="http://schemas.openxmlformats.org/officeDocument/2006/relationships/slide" Target="/ppt/slides/slide11.xml" Id="R1ef573ca510a4ae7" /><Relationship Type="http://schemas.openxmlformats.org/officeDocument/2006/relationships/slide" Target="/ppt/slides/slide12.xml" Id="Ra4d8f645d75f46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5fff5850d324f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3f4f4cc0714512" /><Relationship Type="http://schemas.openxmlformats.org/officeDocument/2006/relationships/notesMaster" Target="/ppt/notesMasters/notesMaster1.xml" Id="R1c0dc498ad2e4b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9e85ae7097441b" /><Relationship Type="http://schemas.openxmlformats.org/officeDocument/2006/relationships/notesMaster" Target="/ppt/notesMasters/notesMaster1.xml" Id="R59fcf000716b4b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c9d72ddb4b4d6b" /><Relationship Type="http://schemas.openxmlformats.org/officeDocument/2006/relationships/notesMaster" Target="/ppt/notesMasters/notesMaster1.xml" Id="R9ebe64901c3342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f3a5f08bc14a82" /><Relationship Type="http://schemas.openxmlformats.org/officeDocument/2006/relationships/notesMaster" Target="/ppt/notesMasters/notesMaster1.xml" Id="R10e9b008f4bf43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7018ac6936441c" /><Relationship Type="http://schemas.openxmlformats.org/officeDocument/2006/relationships/notesMaster" Target="/ppt/notesMasters/notesMaster1.xml" Id="R988ca3ef034b45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02e274fe1b41b2" /><Relationship Type="http://schemas.openxmlformats.org/officeDocument/2006/relationships/notesMaster" Target="/ppt/notesMasters/notesMaster1.xml" Id="R0aef9801203d49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2f56f9254e426d" /><Relationship Type="http://schemas.openxmlformats.org/officeDocument/2006/relationships/notesMaster" Target="/ppt/notesMasters/notesMaster1.xml" Id="R8bc6855f3f7b4a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2c660dc9084f0f" /><Relationship Type="http://schemas.openxmlformats.org/officeDocument/2006/relationships/notesMaster" Target="/ppt/notesMasters/notesMaster1.xml" Id="Ra7af84ec4c9548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4303fe47bf4a52" /><Relationship Type="http://schemas.openxmlformats.org/officeDocument/2006/relationships/notesMaster" Target="/ppt/notesMasters/notesMaster1.xml" Id="R6a5e27c0604b48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41f5b413954fe4" /><Relationship Type="http://schemas.openxmlformats.org/officeDocument/2006/relationships/notesMaster" Target="/ppt/notesMasters/notesMaster1.xml" Id="Reb424fa8ddce44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f7eae6f4144313" /><Relationship Type="http://schemas.openxmlformats.org/officeDocument/2006/relationships/notesMaster" Target="/ppt/notesMasters/notesMaster1.xml" Id="R7e61d609a5934f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a56c22a9b154a1c" /><Relationship Type="http://schemas.openxmlformats.org/officeDocument/2006/relationships/notesMaster" Target="/ppt/notesMasters/notesMaster1.xml" Id="Rd9d1741d08a74f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52290e165f4fb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238f61a7a534b15" /><Relationship Type="http://schemas.openxmlformats.org/officeDocument/2006/relationships/slideLayout" Target="/ppt/slideLayouts/slideLayout2.xml" Id="R0afe5a88c5e647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fe5a88c5e647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f48968c43441ac" /><Relationship Type="http://schemas.openxmlformats.org/officeDocument/2006/relationships/notesSlide" Target="/ppt/notesSlides/notesSlide1.xml" Id="R9c650a00b9944e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b053db1d404804" /><Relationship Type="http://schemas.openxmlformats.org/officeDocument/2006/relationships/notesSlide" Target="/ppt/notesSlides/notesSlide2.xml" Id="R406fbd62108a4a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d2d3a639da4595" /><Relationship Type="http://schemas.openxmlformats.org/officeDocument/2006/relationships/image" Target="/ppt/media/image.png" Id="R28f617c52e5941a5" /><Relationship Type="http://schemas.openxmlformats.org/officeDocument/2006/relationships/notesSlide" Target="/ppt/notesSlides/notesSlide3.xml" Id="R6f1305e67d0147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d9a9f08ac848fd" /><Relationship Type="http://schemas.openxmlformats.org/officeDocument/2006/relationships/image" Target="/ppt/media/image2.png" Id="Rdbf8d74045394fc0" /><Relationship Type="http://schemas.openxmlformats.org/officeDocument/2006/relationships/notesSlide" Target="/ppt/notesSlides/notesSlide4.xml" Id="Rcf7e7f7629804c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0362d5a9754787" /><Relationship Type="http://schemas.openxmlformats.org/officeDocument/2006/relationships/notesSlide" Target="/ppt/notesSlides/notesSlide5.xml" Id="Rdee5688866af4e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2a4012aa0a438f" /><Relationship Type="http://schemas.openxmlformats.org/officeDocument/2006/relationships/notesSlide" Target="/ppt/notesSlides/notesSlide6.xml" Id="R7028bdb9fb4244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27fb041f9d4838" /><Relationship Type="http://schemas.openxmlformats.org/officeDocument/2006/relationships/notesSlide" Target="/ppt/notesSlides/notesSlide7.xml" Id="Rc76de1feb32243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40b561bc3b42a1" /><Relationship Type="http://schemas.openxmlformats.org/officeDocument/2006/relationships/notesSlide" Target="/ppt/notesSlides/notesSlide8.xml" Id="Rc6517c43834644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12ed3b2467442c" /><Relationship Type="http://schemas.openxmlformats.org/officeDocument/2006/relationships/notesSlide" Target="/ppt/notesSlides/notesSlide9.xml" Id="Rad444c09818e4e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a3cd78126e43ef" /><Relationship Type="http://schemas.openxmlformats.org/officeDocument/2006/relationships/notesSlide" Target="/ppt/notesSlides/notesSlide10.xml" Id="Rb5e3b1426b134d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392d390d1e4ebc" /><Relationship Type="http://schemas.openxmlformats.org/officeDocument/2006/relationships/notesSlide" Target="/ppt/notesSlides/notesSlide11.xml" Id="R751e283bdd834c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11b8af43b14b17" /><Relationship Type="http://schemas.openxmlformats.org/officeDocument/2006/relationships/notesSlide" Target="/ppt/notesSlides/notesSlide12.xml" Id="R5fb6b59e6ca44f6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0102879-BEE3-478B-9D6C-CE1841C5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cover-blue-rail">
            <a:extLst xmlns:a="http://schemas.openxmlformats.org/drawingml/2006/main">
              <a:ext uri="{FF2B5EF4-FFF2-40B4-BE49-F238E27FC236}">
                <a16:creationId xmlns:a16="http://schemas.microsoft.com/office/drawing/2014/main" id="{25F2B218-07DC-4F0D-AEC6-EC976D1C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046CB63-43F7-409D-8F65-DE2000A4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85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Enterprise Service Intake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222AB3C-A458-4409-A2FA-74B2CBF4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FE2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FE2FF"/>
                </a:solidFill>
                <a:latin typeface="Aptos"/>
                <a:ea typeface="Aptos"/>
                <a:cs typeface="Aptos"/>
              </a:rPr>
              <a:t>Power Platform Senior Developer take-home case</a:t>
            </a:r>
          </a:p>
        </p:txBody>
      </p:sp>
      <p:sp>
        <p:nvSpPr>
          <p:cNvPr id="5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21D7DBBB-1CB7-475B-A52B-C6696C2A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619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Secure customer intake, configurable SLA routing, manager approvals, resilient ERP synchronization, and non-bypassable Dataverse guardrails.</a:t>
            </a:r>
          </a:p>
        </p:txBody>
      </p:sp>
      <p:sp>
        <p:nvSpPr>
          <p:cNvPr id="6" name="cover-pill-dataverse">
            <a:extLst xmlns:a="http://schemas.openxmlformats.org/drawingml/2006/main">
              <a:ext uri="{FF2B5EF4-FFF2-40B4-BE49-F238E27FC236}">
                <a16:creationId xmlns:a16="http://schemas.microsoft.com/office/drawing/2014/main" id="{04D3DC88-3677-4382-9ADE-2F34DF8E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7A"/>
          </a:solidFill>
          <a:ln xmlns:a="http://schemas.openxmlformats.org/drawingml/2006/main" w="9525">
            <a:solidFill>
              <a:srgbClr val="2D75A0"/>
            </a:solidFill>
            <a:prstDash val="solid"/>
          </a:ln>
        </p:spPr>
      </p:sp>
      <p:sp>
        <p:nvSpPr>
          <p:cNvPr id="7" name="cover-pill-dataverse-text">
            <a:extLst xmlns:a="http://schemas.openxmlformats.org/drawingml/2006/main">
              <a:ext uri="{FF2B5EF4-FFF2-40B4-BE49-F238E27FC236}">
                <a16:creationId xmlns:a16="http://schemas.microsoft.com/office/drawing/2014/main" id="{1154AC62-5202-4A23-B69A-312CFF8D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37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FF1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FF1FF"/>
                </a:solidFill>
                <a:latin typeface="Aptos"/>
                <a:ea typeface="Aptos"/>
                <a:cs typeface="Aptos"/>
              </a:rPr>
              <a:t>Dataverse authority</a:t>
            </a:r>
          </a:p>
        </p:txBody>
      </p:sp>
      <p:sp>
        <p:nvSpPr>
          <p:cNvPr id="8" name="cover-pill-pages">
            <a:extLst xmlns:a="http://schemas.openxmlformats.org/drawingml/2006/main">
              <a:ext uri="{FF2B5EF4-FFF2-40B4-BE49-F238E27FC236}">
                <a16:creationId xmlns:a16="http://schemas.microsoft.com/office/drawing/2014/main" id="{AD5E1B52-A54B-46F3-8914-FBED760E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433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7A"/>
          </a:solidFill>
          <a:ln xmlns:a="http://schemas.openxmlformats.org/drawingml/2006/main" w="9525">
            <a:solidFill>
              <a:srgbClr val="2D75A0"/>
            </a:solidFill>
            <a:prstDash val="solid"/>
          </a:ln>
        </p:spPr>
      </p:sp>
      <p:sp>
        <p:nvSpPr>
          <p:cNvPr id="9" name="cover-pill-pages-text">
            <a:extLst xmlns:a="http://schemas.openxmlformats.org/drawingml/2006/main">
              <a:ext uri="{FF2B5EF4-FFF2-40B4-BE49-F238E27FC236}">
                <a16:creationId xmlns:a16="http://schemas.microsoft.com/office/drawing/2014/main" id="{78B16A37-7BB8-46FA-8E00-026384E0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590925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FF1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FF1FF"/>
                </a:solidFill>
                <a:latin typeface="Aptos"/>
                <a:ea typeface="Aptos"/>
                <a:cs typeface="Aptos"/>
              </a:rPr>
              <a:t>Power Pages intake</a:t>
            </a:r>
          </a:p>
        </p:txBody>
      </p:sp>
      <p:sp>
        <p:nvSpPr>
          <p:cNvPr id="10" name="cover-pill-code">
            <a:extLst xmlns:a="http://schemas.openxmlformats.org/drawingml/2006/main">
              <a:ext uri="{FF2B5EF4-FFF2-40B4-BE49-F238E27FC236}">
                <a16:creationId xmlns:a16="http://schemas.microsoft.com/office/drawing/2014/main" id="{6274EE53-AE9E-437F-A8EF-2A1780C3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7A"/>
          </a:solidFill>
          <a:ln xmlns:a="http://schemas.openxmlformats.org/drawingml/2006/main" w="9525">
            <a:solidFill>
              <a:srgbClr val="2D75A0"/>
            </a:solidFill>
            <a:prstDash val="solid"/>
          </a:ln>
        </p:spPr>
      </p:sp>
      <p:sp>
        <p:nvSpPr>
          <p:cNvPr id="11" name="cover-pill-code-text">
            <a:extLst xmlns:a="http://schemas.openxmlformats.org/drawingml/2006/main">
              <a:ext uri="{FF2B5EF4-FFF2-40B4-BE49-F238E27FC236}">
                <a16:creationId xmlns:a16="http://schemas.microsoft.com/office/drawing/2014/main" id="{AEA55D09-63B7-499F-94BD-11CB8125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90925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FF1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FF1FF"/>
                </a:solidFill>
                <a:latin typeface="Aptos"/>
                <a:ea typeface="Aptos"/>
                <a:cs typeface="Aptos"/>
              </a:rPr>
              <a:t>Plugins + flows</a:t>
            </a:r>
          </a:p>
        </p:txBody>
      </p:sp>
      <p:sp>
        <p:nvSpPr>
          <p:cNvPr id="12" name="cover-node-pages">
            <a:extLst xmlns:a="http://schemas.openxmlformats.org/drawingml/2006/main">
              <a:ext uri="{FF2B5EF4-FFF2-40B4-BE49-F238E27FC236}">
                <a16:creationId xmlns:a16="http://schemas.microsoft.com/office/drawing/2014/main" id="{5716420C-0BF9-4A94-8906-5590BF7E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10490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1"/>
          </a:solidFill>
          <a:ln xmlns:a="http://schemas.openxmlformats.org/drawingml/2006/main" w="9525">
            <a:solidFill>
              <a:srgbClr val="2D75A0"/>
            </a:solidFill>
            <a:prstDash val="solid"/>
          </a:ln>
        </p:spPr>
      </p:sp>
      <p:sp>
        <p:nvSpPr>
          <p:cNvPr id="13" name="cover-node-pages-accent">
            <a:extLst xmlns:a="http://schemas.openxmlformats.org/drawingml/2006/main">
              <a:ext uri="{FF2B5EF4-FFF2-40B4-BE49-F238E27FC236}">
                <a16:creationId xmlns:a16="http://schemas.microsoft.com/office/drawing/2014/main" id="{A442B2A0-CEC0-47C2-80D2-D9B34F8F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1049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A5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cover-node-pages-title">
            <a:extLst xmlns:a="http://schemas.openxmlformats.org/drawingml/2006/main">
              <a:ext uri="{FF2B5EF4-FFF2-40B4-BE49-F238E27FC236}">
                <a16:creationId xmlns:a16="http://schemas.microsoft.com/office/drawing/2014/main" id="{54B6DC5B-E4AE-46B0-8B67-765B35A2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2573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Power Pages</a:t>
            </a:r>
          </a:p>
        </p:txBody>
      </p:sp>
      <p:sp>
        <p:nvSpPr>
          <p:cNvPr id="15" name="cover-node-pages-note">
            <a:extLst xmlns:a="http://schemas.openxmlformats.org/drawingml/2006/main">
              <a:ext uri="{FF2B5EF4-FFF2-40B4-BE49-F238E27FC236}">
                <a16:creationId xmlns:a16="http://schemas.microsoft.com/office/drawing/2014/main" id="{4F84B783-2387-42D7-B0A2-1B350B0D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5621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FE2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FE2FF"/>
                </a:solidFill>
                <a:latin typeface="Aptos"/>
                <a:ea typeface="Aptos"/>
                <a:cs typeface="Aptos"/>
              </a:rPr>
              <a:t>Authenticated multi-step external intake.</a:t>
            </a:r>
          </a:p>
        </p:txBody>
      </p:sp>
      <p:sp>
        <p:nvSpPr>
          <p:cNvPr id="16" name="cover-node-dataverse">
            <a:extLst xmlns:a="http://schemas.openxmlformats.org/drawingml/2006/main">
              <a:ext uri="{FF2B5EF4-FFF2-40B4-BE49-F238E27FC236}">
                <a16:creationId xmlns:a16="http://schemas.microsoft.com/office/drawing/2014/main" id="{82125BB6-EB4C-40C4-97D0-2EDD42B0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10490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1"/>
          </a:solidFill>
          <a:ln xmlns:a="http://schemas.openxmlformats.org/drawingml/2006/main" w="9525">
            <a:solidFill>
              <a:srgbClr val="2D75A0"/>
            </a:solidFill>
            <a:prstDash val="solid"/>
          </a:ln>
        </p:spPr>
      </p:sp>
      <p:sp>
        <p:nvSpPr>
          <p:cNvPr id="17" name="cover-node-dataverse-accent">
            <a:extLst xmlns:a="http://schemas.openxmlformats.org/drawingml/2006/main">
              <a:ext uri="{FF2B5EF4-FFF2-40B4-BE49-F238E27FC236}">
                <a16:creationId xmlns:a16="http://schemas.microsoft.com/office/drawing/2014/main" id="{B4211896-2D0A-4FE0-8546-5739908E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1049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A5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cover-node-dataverse-title">
            <a:extLst xmlns:a="http://schemas.openxmlformats.org/drawingml/2006/main">
              <a:ext uri="{FF2B5EF4-FFF2-40B4-BE49-F238E27FC236}">
                <a16:creationId xmlns:a16="http://schemas.microsoft.com/office/drawing/2014/main" id="{8099E8D1-C64F-4CE6-B3EE-70D9B651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2573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Dataverse</a:t>
            </a:r>
          </a:p>
        </p:txBody>
      </p:sp>
      <p:sp>
        <p:nvSpPr>
          <p:cNvPr id="19" name="cover-node-dataverse-note">
            <a:extLst xmlns:a="http://schemas.openxmlformats.org/drawingml/2006/main">
              <a:ext uri="{FF2B5EF4-FFF2-40B4-BE49-F238E27FC236}">
                <a16:creationId xmlns:a16="http://schemas.microsoft.com/office/drawing/2014/main" id="{BD445493-D50C-4118-A14B-E4B13FEB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5621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FE2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FE2FF"/>
                </a:solidFill>
                <a:latin typeface="Aptos"/>
                <a:ea typeface="Aptos"/>
                <a:cs typeface="Aptos"/>
              </a:rPr>
              <a:t>Request, rule, SLA, evidence, and log data.</a:t>
            </a:r>
          </a:p>
        </p:txBody>
      </p:sp>
      <p:sp>
        <p:nvSpPr>
          <p:cNvPr id="20" name="cover-c1">
            <a:extLst xmlns:a="http://schemas.openxmlformats.org/drawingml/2006/main">
              <a:ext uri="{FF2B5EF4-FFF2-40B4-BE49-F238E27FC236}">
                <a16:creationId xmlns:a16="http://schemas.microsoft.com/office/drawing/2014/main" id="{D9CAD704-E6D2-4F41-8803-02703BC9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55257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D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cover-c1-arrow">
            <a:extLst xmlns:a="http://schemas.openxmlformats.org/drawingml/2006/main">
              <a:ext uri="{FF2B5EF4-FFF2-40B4-BE49-F238E27FC236}">
                <a16:creationId xmlns:a16="http://schemas.microsoft.com/office/drawing/2014/main" id="{F46F9D98-EBF9-4498-92F2-F6459F01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46685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D2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AD2F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cover-node-plugins">
            <a:extLst xmlns:a="http://schemas.openxmlformats.org/drawingml/2006/main">
              <a:ext uri="{FF2B5EF4-FFF2-40B4-BE49-F238E27FC236}">
                <a16:creationId xmlns:a16="http://schemas.microsoft.com/office/drawing/2014/main" id="{E87487D9-DC65-4116-BC04-D9D4C907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1"/>
          </a:solidFill>
          <a:ln xmlns:a="http://schemas.openxmlformats.org/drawingml/2006/main" w="9525">
            <a:solidFill>
              <a:srgbClr val="2D75A0"/>
            </a:solidFill>
            <a:prstDash val="solid"/>
          </a:ln>
        </p:spPr>
      </p:sp>
      <p:sp>
        <p:nvSpPr>
          <p:cNvPr id="23" name="cover-node-plugins-accent">
            <a:extLst xmlns:a="http://schemas.openxmlformats.org/drawingml/2006/main">
              <a:ext uri="{FF2B5EF4-FFF2-40B4-BE49-F238E27FC236}">
                <a16:creationId xmlns:a16="http://schemas.microsoft.com/office/drawing/2014/main" id="{098FD0D2-54ED-4614-9AA7-84469C51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A5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cover-node-plugins-title">
            <a:extLst xmlns:a="http://schemas.openxmlformats.org/drawingml/2006/main">
              <a:ext uri="{FF2B5EF4-FFF2-40B4-BE49-F238E27FC236}">
                <a16:creationId xmlns:a16="http://schemas.microsoft.com/office/drawing/2014/main" id="{82FDEE79-FF20-428A-A8A5-B61D0034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765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C# plugins</a:t>
            </a:r>
          </a:p>
        </p:txBody>
      </p:sp>
      <p:sp>
        <p:nvSpPr>
          <p:cNvPr id="25" name="cover-node-plugins-note">
            <a:extLst xmlns:a="http://schemas.openxmlformats.org/drawingml/2006/main">
              <a:ext uri="{FF2B5EF4-FFF2-40B4-BE49-F238E27FC236}">
                <a16:creationId xmlns:a16="http://schemas.microsoft.com/office/drawing/2014/main" id="{8E926B64-F9EE-4DD2-AD09-CAC3DC2A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1813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FE2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FE2FF"/>
                </a:solidFill>
                <a:latin typeface="Aptos"/>
                <a:ea typeface="Aptos"/>
                <a:cs typeface="Aptos"/>
              </a:rPr>
              <a:t>Routing, SLA, protected fields, and closure guard.</a:t>
            </a:r>
          </a:p>
        </p:txBody>
      </p:sp>
      <p:sp>
        <p:nvSpPr>
          <p:cNvPr id="26" name="cover-node-flow">
            <a:extLst xmlns:a="http://schemas.openxmlformats.org/drawingml/2006/main">
              <a:ext uri="{FF2B5EF4-FFF2-40B4-BE49-F238E27FC236}">
                <a16:creationId xmlns:a16="http://schemas.microsoft.com/office/drawing/2014/main" id="{40A0BC91-1711-4984-BEBE-9668A52E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241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1"/>
          </a:solidFill>
          <a:ln xmlns:a="http://schemas.openxmlformats.org/drawingml/2006/main" w="9525">
            <a:solidFill>
              <a:srgbClr val="2D75A0"/>
            </a:solidFill>
            <a:prstDash val="solid"/>
          </a:ln>
        </p:spPr>
      </p:sp>
      <p:sp>
        <p:nvSpPr>
          <p:cNvPr id="27" name="cover-node-flow-accent">
            <a:extLst xmlns:a="http://schemas.openxmlformats.org/drawingml/2006/main">
              <a:ext uri="{FF2B5EF4-FFF2-40B4-BE49-F238E27FC236}">
                <a16:creationId xmlns:a16="http://schemas.microsoft.com/office/drawing/2014/main" id="{130C25F7-9DEC-4DF6-BE54-A98B1795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241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A5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cover-node-flow-title">
            <a:extLst xmlns:a="http://schemas.openxmlformats.org/drawingml/2006/main">
              <a:ext uri="{FF2B5EF4-FFF2-40B4-BE49-F238E27FC236}">
                <a16:creationId xmlns:a16="http://schemas.microsoft.com/office/drawing/2014/main" id="{C590B25F-CDDB-4189-8784-8141814C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8765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Power Automate</a:t>
            </a:r>
          </a:p>
        </p:txBody>
      </p:sp>
      <p:sp>
        <p:nvSpPr>
          <p:cNvPr id="29" name="cover-node-flow-note">
            <a:extLst xmlns:a="http://schemas.openxmlformats.org/drawingml/2006/main">
              <a:ext uri="{FF2B5EF4-FFF2-40B4-BE49-F238E27FC236}">
                <a16:creationId xmlns:a16="http://schemas.microsoft.com/office/drawing/2014/main" id="{2B42BBFE-FA30-4FC4-A10B-05678987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1813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FE2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FE2FF"/>
                </a:solidFill>
                <a:latin typeface="Aptos"/>
                <a:ea typeface="Aptos"/>
                <a:cs typeface="Aptos"/>
              </a:rPr>
              <a:t>Approval, OAuth, ERP POST, and catch logging.</a:t>
            </a:r>
          </a:p>
        </p:txBody>
      </p:sp>
      <p:sp>
        <p:nvSpPr>
          <p:cNvPr id="30" name="cover-c2">
            <a:extLst xmlns:a="http://schemas.openxmlformats.org/drawingml/2006/main">
              <a:ext uri="{FF2B5EF4-FFF2-40B4-BE49-F238E27FC236}">
                <a16:creationId xmlns:a16="http://schemas.microsoft.com/office/drawing/2014/main" id="{997325D6-2553-4F2F-800D-2A908715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1930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D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cover-c2-arrow">
            <a:extLst xmlns:a="http://schemas.openxmlformats.org/drawingml/2006/main">
              <a:ext uri="{FF2B5EF4-FFF2-40B4-BE49-F238E27FC236}">
                <a16:creationId xmlns:a16="http://schemas.microsoft.com/office/drawing/2014/main" id="{294E2D75-C115-4D02-941C-22A8533E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62890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AD2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AD2FF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32" name="cover-c3">
            <a:extLst xmlns:a="http://schemas.openxmlformats.org/drawingml/2006/main">
              <a:ext uri="{FF2B5EF4-FFF2-40B4-BE49-F238E27FC236}">
                <a16:creationId xmlns:a16="http://schemas.microsoft.com/office/drawing/2014/main" id="{4FD95640-25E9-41B7-BEBB-EF71AED2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718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D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cover-c3-arrow">
            <a:extLst xmlns:a="http://schemas.openxmlformats.org/drawingml/2006/main">
              <a:ext uri="{FF2B5EF4-FFF2-40B4-BE49-F238E27FC236}">
                <a16:creationId xmlns:a16="http://schemas.microsoft.com/office/drawing/2014/main" id="{649E9BAE-712A-4B8F-BAF3-DCD188B6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8610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D2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AD2F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" name="cover-node-proof">
            <a:extLst xmlns:a="http://schemas.openxmlformats.org/drawingml/2006/main">
              <a:ext uri="{FF2B5EF4-FFF2-40B4-BE49-F238E27FC236}">
                <a16:creationId xmlns:a16="http://schemas.microsoft.com/office/drawing/2014/main" id="{F9AE44A3-7D77-422C-ABCC-899B7AE5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1960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1"/>
          </a:solidFill>
          <a:ln xmlns:a="http://schemas.openxmlformats.org/drawingml/2006/main" w="9525">
            <a:solidFill>
              <a:srgbClr val="2D75A0"/>
            </a:solidFill>
            <a:prstDash val="solid"/>
          </a:ln>
        </p:spPr>
      </p:sp>
      <p:sp>
        <p:nvSpPr>
          <p:cNvPr id="35" name="cover-node-proof-accent">
            <a:extLst xmlns:a="http://schemas.openxmlformats.org/drawingml/2006/main">
              <a:ext uri="{FF2B5EF4-FFF2-40B4-BE49-F238E27FC236}">
                <a16:creationId xmlns:a16="http://schemas.microsoft.com/office/drawing/2014/main" id="{CB5A90EA-A049-4D50-9C12-FCB69DB5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196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cover-node-proof-title">
            <a:extLst xmlns:a="http://schemas.openxmlformats.org/drawingml/2006/main">
              <a:ext uri="{FF2B5EF4-FFF2-40B4-BE49-F238E27FC236}">
                <a16:creationId xmlns:a16="http://schemas.microsoft.com/office/drawing/2014/main" id="{6B84A395-68EE-426F-8F60-BF8A642F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Review proof</a:t>
            </a:r>
          </a:p>
        </p:txBody>
      </p:sp>
      <p:sp>
        <p:nvSpPr>
          <p:cNvPr id="37" name="cover-node-proof-note">
            <a:extLst xmlns:a="http://schemas.openxmlformats.org/drawingml/2006/main">
              <a:ext uri="{FF2B5EF4-FFF2-40B4-BE49-F238E27FC236}">
                <a16:creationId xmlns:a16="http://schemas.microsoft.com/office/drawing/2014/main" id="{AEF71310-E66A-48D1-B2FA-769C3E50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768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FE2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FE2FF"/>
                </a:solidFill>
                <a:latin typeface="Aptos"/>
                <a:ea typeface="Aptos"/>
                <a:cs typeface="Aptos"/>
              </a:rPr>
              <a:t>Managed solution, source, docs, demo data, and verification.</a:t>
            </a:r>
          </a:p>
        </p:txBody>
      </p:sp>
      <p:sp>
        <p:nvSpPr>
          <p:cNvPr id="38" name="cover-review">
            <a:extLst xmlns:a="http://schemas.openxmlformats.org/drawingml/2006/main">
              <a:ext uri="{FF2B5EF4-FFF2-40B4-BE49-F238E27FC236}">
                <a16:creationId xmlns:a16="http://schemas.microsoft.com/office/drawing/2014/main" id="{E0F5C0FA-4826-41F8-A0F6-796D1AC3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FF1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FF1FF"/>
                </a:solidFill>
                <a:latin typeface="Aptos"/>
                <a:ea typeface="Aptos"/>
                <a:cs typeface="Aptos"/>
              </a:rPr>
              <a:t>Prepared for live architecture review</a:t>
            </a:r>
          </a:p>
        </p:txBody>
      </p:sp>
      <p:sp>
        <p:nvSpPr>
          <p:cNvPr id="39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FA48ABDF-C25A-4706-B1CC-E27AE5C1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E2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FE2FF"/>
                </a:solidFill>
                <a:latin typeface="Aptos"/>
                <a:ea typeface="Aptos"/>
                <a:cs typeface="Aptos"/>
              </a:rPr>
              <a:t>Forrest Zhang | May 2026</a:t>
            </a:r>
          </a:p>
        </p:txBody>
      </p:sp>
      <p:sp>
        <p:nvSpPr>
          <p:cNvPr id="4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9F74974-3C11-461A-BF73-D2C83493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0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4A3E14B5-312B-42C0-B1F8-36B7A0F7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E2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FE2FF"/>
                </a:solidFill>
                <a:latin typeface="Aptos"/>
                <a:ea typeface="Aptos"/>
                <a:cs typeface="Aptos"/>
              </a:rPr>
              <a:t>Enterprise Service Intake | Power Platform Senior Developer take-home | May 2026</a:t>
            </a:r>
          </a:p>
        </p:txBody>
      </p:sp>
      <p:sp>
        <p:nvSpPr>
          <p:cNvPr id="4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77FE964-D683-4716-9E51-7E946565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FE2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E2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116826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FCEABD1-9C63-4EF2-A6DA-F401712F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A61FEEB-724B-493A-AD07-B30AA783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FE9C707-406B-4E3F-B581-C0D74D1C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7B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67B1"/>
                </a:solidFill>
                <a:latin typeface="Aptos"/>
                <a:ea typeface="Aptos"/>
                <a:cs typeface="Aptos"/>
              </a:rPr>
              <a:t>REQUIREMENT COVERAGE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076D313-CDC7-4798-8729-12BC1F93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00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23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2231"/>
                </a:solidFill>
                <a:latin typeface="Aptos Display"/>
                <a:ea typeface="Aptos Display"/>
                <a:cs typeface="Aptos Display"/>
              </a:rPr>
              <a:t>Every requested capability maps to a concrete build artifact.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E5E220E0-F470-41FA-8FF1-CBAF9169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81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The assignment was implemented as a complete vertical slice, not a disconnected component sample.</a:t>
            </a:r>
          </a:p>
        </p:txBody>
      </p:sp>
      <p:sp>
        <p:nvSpPr>
          <p:cNvPr id="6" name="scope-card">
            <a:extLst xmlns:a="http://schemas.openxmlformats.org/drawingml/2006/main">
              <a:ext uri="{FF2B5EF4-FFF2-40B4-BE49-F238E27FC236}">
                <a16:creationId xmlns:a16="http://schemas.microsoft.com/office/drawing/2014/main" id="{25BC42AF-8A42-476C-8404-23C21CCA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2647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7" name="scope-card-accent">
            <a:extLst xmlns:a="http://schemas.openxmlformats.org/drawingml/2006/main">
              <a:ext uri="{FF2B5EF4-FFF2-40B4-BE49-F238E27FC236}">
                <a16:creationId xmlns:a16="http://schemas.microsoft.com/office/drawing/2014/main" id="{571B3D93-59CA-4298-8D41-2D6CFA15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cope-card-label">
            <a:extLst xmlns:a="http://schemas.openxmlformats.org/drawingml/2006/main">
              <a:ext uri="{FF2B5EF4-FFF2-40B4-BE49-F238E27FC236}">
                <a16:creationId xmlns:a16="http://schemas.microsoft.com/office/drawing/2014/main" id="{999D5FC9-5BAA-49B9-8374-16321273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2305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SCOPE POSTURE</a:t>
            </a:r>
          </a:p>
        </p:txBody>
      </p:sp>
      <p:sp>
        <p:nvSpPr>
          <p:cNvPr id="9" name="scope-card-value">
            <a:extLst xmlns:a="http://schemas.openxmlformats.org/drawingml/2006/main">
              <a:ext uri="{FF2B5EF4-FFF2-40B4-BE49-F238E27FC236}">
                <a16:creationId xmlns:a16="http://schemas.microsoft.com/office/drawing/2014/main" id="{D2B2DB44-9658-4D67-BBA6-29897521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33675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Vertical slice</a:t>
            </a:r>
          </a:p>
        </p:txBody>
      </p:sp>
      <p:sp>
        <p:nvSpPr>
          <p:cNvPr id="10" name="scope-card-note">
            <a:extLst xmlns:a="http://schemas.openxmlformats.org/drawingml/2006/main">
              <a:ext uri="{FF2B5EF4-FFF2-40B4-BE49-F238E27FC236}">
                <a16:creationId xmlns:a16="http://schemas.microsoft.com/office/drawing/2014/main" id="{3C7608CA-00A6-4C16-8701-E769B91F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2305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Portal submit through approval, ERP sync, and monitoring.</a:t>
            </a:r>
          </a:p>
        </p:txBody>
      </p:sp>
      <p:sp>
        <p:nvSpPr>
          <p:cNvPr id="11" name="handoff-card">
            <a:extLst xmlns:a="http://schemas.openxmlformats.org/drawingml/2006/main">
              <a:ext uri="{FF2B5EF4-FFF2-40B4-BE49-F238E27FC236}">
                <a16:creationId xmlns:a16="http://schemas.microsoft.com/office/drawing/2014/main" id="{50ED69D4-138E-414C-A213-ED0E81E6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2647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2" name="handoff-card-accent">
            <a:extLst xmlns:a="http://schemas.openxmlformats.org/drawingml/2006/main">
              <a:ext uri="{FF2B5EF4-FFF2-40B4-BE49-F238E27FC236}">
                <a16:creationId xmlns:a16="http://schemas.microsoft.com/office/drawing/2014/main" id="{27B5DEDF-9929-4556-94FA-EBF1FDD0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handoff-card-label">
            <a:extLst xmlns:a="http://schemas.openxmlformats.org/drawingml/2006/main">
              <a:ext uri="{FF2B5EF4-FFF2-40B4-BE49-F238E27FC236}">
                <a16:creationId xmlns:a16="http://schemas.microsoft.com/office/drawing/2014/main" id="{2885D591-C369-4C44-8746-229978FA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2305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REVIEWER HANDOFF</a:t>
            </a:r>
          </a:p>
        </p:txBody>
      </p:sp>
      <p:sp>
        <p:nvSpPr>
          <p:cNvPr id="14" name="handoff-card-value">
            <a:extLst xmlns:a="http://schemas.openxmlformats.org/drawingml/2006/main">
              <a:ext uri="{FF2B5EF4-FFF2-40B4-BE49-F238E27FC236}">
                <a16:creationId xmlns:a16="http://schemas.microsoft.com/office/drawing/2014/main" id="{7427FC28-1327-4F6D-B7C0-2A7A858D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29075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Source + solution</a:t>
            </a:r>
          </a:p>
        </p:txBody>
      </p:sp>
      <p:sp>
        <p:nvSpPr>
          <p:cNvPr id="15" name="handoff-card-note">
            <a:extLst xmlns:a="http://schemas.openxmlformats.org/drawingml/2006/main">
              <a:ext uri="{FF2B5EF4-FFF2-40B4-BE49-F238E27FC236}">
                <a16:creationId xmlns:a16="http://schemas.microsoft.com/office/drawing/2014/main" id="{202DEC0C-2003-4FD4-B078-93A10628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2305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Managed package, PAC source, code, docs, and demo script.</a:t>
            </a:r>
          </a:p>
        </p:txBody>
      </p:sp>
      <p:sp>
        <p:nvSpPr>
          <p:cNvPr id="16" name="evidence-card">
            <a:extLst xmlns:a="http://schemas.openxmlformats.org/drawingml/2006/main">
              <a:ext uri="{FF2B5EF4-FFF2-40B4-BE49-F238E27FC236}">
                <a16:creationId xmlns:a16="http://schemas.microsoft.com/office/drawing/2014/main" id="{C7A83CC4-589A-43F8-802C-309C0B11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2647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7" name="evidence-card-accent">
            <a:extLst xmlns:a="http://schemas.openxmlformats.org/drawingml/2006/main">
              <a:ext uri="{FF2B5EF4-FFF2-40B4-BE49-F238E27FC236}">
                <a16:creationId xmlns:a16="http://schemas.microsoft.com/office/drawing/2014/main" id="{713024B0-3F24-4A64-8C6F-BA43CB37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evidence-card-label">
            <a:extLst xmlns:a="http://schemas.openxmlformats.org/drawingml/2006/main">
              <a:ext uri="{FF2B5EF4-FFF2-40B4-BE49-F238E27FC236}">
                <a16:creationId xmlns:a16="http://schemas.microsoft.com/office/drawing/2014/main" id="{4D48C00B-CF8B-4A4B-BC7D-514A42C1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2305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DEMO EVIDENCE</a:t>
            </a:r>
          </a:p>
        </p:txBody>
      </p:sp>
      <p:sp>
        <p:nvSpPr>
          <p:cNvPr id="19" name="evidence-card-value">
            <a:extLst xmlns:a="http://schemas.openxmlformats.org/drawingml/2006/main">
              <a:ext uri="{FF2B5EF4-FFF2-40B4-BE49-F238E27FC236}">
                <a16:creationId xmlns:a16="http://schemas.microsoft.com/office/drawing/2014/main" id="{FB225D30-E134-49CE-8FBA-F7E291F8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24475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Live verified</a:t>
            </a:r>
          </a:p>
        </p:txBody>
      </p:sp>
      <p:sp>
        <p:nvSpPr>
          <p:cNvPr id="20" name="evidence-card-note">
            <a:extLst xmlns:a="http://schemas.openxmlformats.org/drawingml/2006/main">
              <a:ext uri="{FF2B5EF4-FFF2-40B4-BE49-F238E27FC236}">
                <a16:creationId xmlns:a16="http://schemas.microsoft.com/office/drawing/2014/main" id="{6A1C314F-D12B-446D-81F1-1D39F3A7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2305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Smoke tests cover portal, files, plugins, flows, and app UX.</a:t>
            </a:r>
          </a:p>
        </p:txBody>
      </p:sp>
      <p:sp>
        <p:nvSpPr>
          <p:cNvPr id="21" name="coverage-table">
            <a:extLst xmlns:a="http://schemas.openxmlformats.org/drawingml/2006/main">
              <a:ext uri="{FF2B5EF4-FFF2-40B4-BE49-F238E27FC236}">
                <a16:creationId xmlns:a16="http://schemas.microsoft.com/office/drawing/2014/main" id="{60D20CB4-2FF1-4490-B577-8EA8821C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66950"/>
            <a:ext cx="80391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2" name="coverage-cap-header">
            <a:extLst xmlns:a="http://schemas.openxmlformats.org/drawingml/2006/main">
              <a:ext uri="{FF2B5EF4-FFF2-40B4-BE49-F238E27FC236}">
                <a16:creationId xmlns:a16="http://schemas.microsoft.com/office/drawing/2014/main" id="{EBC53EFB-E32E-4813-AA1B-EF733CEF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384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Capability</a:t>
            </a:r>
          </a:p>
        </p:txBody>
      </p:sp>
      <p:sp>
        <p:nvSpPr>
          <p:cNvPr id="23" name="coverage-evidence-header">
            <a:extLst xmlns:a="http://schemas.openxmlformats.org/drawingml/2006/main">
              <a:ext uri="{FF2B5EF4-FFF2-40B4-BE49-F238E27FC236}">
                <a16:creationId xmlns:a16="http://schemas.microsoft.com/office/drawing/2014/main" id="{0C580730-0A90-465D-9AA0-EEBA4CE4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384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Reviewable evidence</a:t>
            </a:r>
          </a:p>
        </p:txBody>
      </p:sp>
      <p:sp>
        <p:nvSpPr>
          <p:cNvPr id="24" name="coverage-status-header">
            <a:extLst xmlns:a="http://schemas.openxmlformats.org/drawingml/2006/main">
              <a:ext uri="{FF2B5EF4-FFF2-40B4-BE49-F238E27FC236}">
                <a16:creationId xmlns:a16="http://schemas.microsoft.com/office/drawing/2014/main" id="{0C393548-5B73-4577-982A-B4B39288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384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25" name="coverage-header-rule">
            <a:extLst xmlns:a="http://schemas.openxmlformats.org/drawingml/2006/main">
              <a:ext uri="{FF2B5EF4-FFF2-40B4-BE49-F238E27FC236}">
                <a16:creationId xmlns:a16="http://schemas.microsoft.com/office/drawing/2014/main" id="{26A8E869-65C8-4427-A809-C2062D65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62250"/>
            <a:ext cx="803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coverage-cap-0">
            <a:extLst xmlns:a="http://schemas.openxmlformats.org/drawingml/2006/main">
              <a:ext uri="{FF2B5EF4-FFF2-40B4-BE49-F238E27FC236}">
                <a16:creationId xmlns:a16="http://schemas.microsoft.com/office/drawing/2014/main" id="{18E93711-37F9-4DA8-AC24-325954E5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Dataverse model</a:t>
            </a:r>
          </a:p>
        </p:txBody>
      </p:sp>
      <p:sp>
        <p:nvSpPr>
          <p:cNvPr id="27" name="coverage-desc-0">
            <a:extLst xmlns:a="http://schemas.openxmlformats.org/drawingml/2006/main">
              <a:ext uri="{FF2B5EF4-FFF2-40B4-BE49-F238E27FC236}">
                <a16:creationId xmlns:a16="http://schemas.microsoft.com/office/drawing/2014/main" id="{F8E45F2C-7502-48F4-8F24-9EEDF80E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5750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Service Request, Routing Rules, SLA Policy, Departments, Evidence Reviews, Sync Logs, Error Logs</a:t>
            </a:r>
          </a:p>
        </p:txBody>
      </p:sp>
      <p:sp>
        <p:nvSpPr>
          <p:cNvPr id="28" name="coverage-status-0">
            <a:extLst xmlns:a="http://schemas.openxmlformats.org/drawingml/2006/main">
              <a:ext uri="{FF2B5EF4-FFF2-40B4-BE49-F238E27FC236}">
                <a16:creationId xmlns:a16="http://schemas.microsoft.com/office/drawing/2014/main" id="{B3150A2D-26BF-40A3-B94B-7F495516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7655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C"/>
          </a:solidFill>
          <a:ln xmlns:a="http://schemas.openxmlformats.org/drawingml/2006/main" w="9525">
            <a:solidFill>
              <a:srgbClr val="BCE3CA"/>
            </a:solidFill>
            <a:prstDash val="solid"/>
          </a:ln>
        </p:spPr>
      </p:sp>
      <p:sp>
        <p:nvSpPr>
          <p:cNvPr id="29" name="coverage-status-0-text">
            <a:extLst xmlns:a="http://schemas.openxmlformats.org/drawingml/2006/main">
              <a:ext uri="{FF2B5EF4-FFF2-40B4-BE49-F238E27FC236}">
                <a16:creationId xmlns:a16="http://schemas.microsoft.com/office/drawing/2014/main" id="{E8302C4C-9ACC-42D1-ADF1-C92E063D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24175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7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A43"/>
                </a:solidFill>
                <a:latin typeface="Aptos"/>
                <a:ea typeface="Aptos"/>
                <a:cs typeface="Aptos"/>
              </a:rPr>
              <a:t>Built</a:t>
            </a:r>
          </a:p>
        </p:txBody>
      </p:sp>
      <p:sp>
        <p:nvSpPr>
          <p:cNvPr id="30" name="coverage-rule-1">
            <a:extLst xmlns:a="http://schemas.openxmlformats.org/drawingml/2006/main">
              <a:ext uri="{FF2B5EF4-FFF2-40B4-BE49-F238E27FC236}">
                <a16:creationId xmlns:a16="http://schemas.microsoft.com/office/drawing/2014/main" id="{B3F2D6DD-F58F-4B3B-8F68-F912AC55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67075"/>
            <a:ext cx="758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coverage-cap-1">
            <a:extLst xmlns:a="http://schemas.openxmlformats.org/drawingml/2006/main">
              <a:ext uri="{FF2B5EF4-FFF2-40B4-BE49-F238E27FC236}">
                <a16:creationId xmlns:a16="http://schemas.microsoft.com/office/drawing/2014/main" id="{13093AC2-90BA-4DB3-8907-04EF40E9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528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Power Pages UX</a:t>
            </a:r>
          </a:p>
        </p:txBody>
      </p:sp>
      <p:sp>
        <p:nvSpPr>
          <p:cNvPr id="32" name="coverage-desc-1">
            <a:extLst xmlns:a="http://schemas.openxmlformats.org/drawingml/2006/main">
              <a:ext uri="{FF2B5EF4-FFF2-40B4-BE49-F238E27FC236}">
                <a16:creationId xmlns:a16="http://schemas.microsoft.com/office/drawing/2014/main" id="{4D689F1E-4021-41A3-B219-1EB7FB3E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5280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Private authenticated site, My requests, save-for-later drafts, multi-step intake, required-file gate</a:t>
            </a:r>
          </a:p>
        </p:txBody>
      </p:sp>
      <p:sp>
        <p:nvSpPr>
          <p:cNvPr id="33" name="coverage-status-1">
            <a:extLst xmlns:a="http://schemas.openxmlformats.org/drawingml/2006/main">
              <a:ext uri="{FF2B5EF4-FFF2-40B4-BE49-F238E27FC236}">
                <a16:creationId xmlns:a16="http://schemas.microsoft.com/office/drawing/2014/main" id="{90DEE8A0-7CB3-40E4-BEE9-E04E62D7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37185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C"/>
          </a:solidFill>
          <a:ln xmlns:a="http://schemas.openxmlformats.org/drawingml/2006/main" w="9525">
            <a:solidFill>
              <a:srgbClr val="BCE3CA"/>
            </a:solidFill>
            <a:prstDash val="solid"/>
          </a:ln>
        </p:spPr>
      </p:sp>
      <p:sp>
        <p:nvSpPr>
          <p:cNvPr id="34" name="coverage-status-1-text">
            <a:extLst xmlns:a="http://schemas.openxmlformats.org/drawingml/2006/main">
              <a:ext uri="{FF2B5EF4-FFF2-40B4-BE49-F238E27FC236}">
                <a16:creationId xmlns:a16="http://schemas.microsoft.com/office/drawing/2014/main" id="{488FD11C-4E9C-4D3C-A1F1-45BCB23B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19475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7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A43"/>
                </a:solidFill>
                <a:latin typeface="Aptos"/>
                <a:ea typeface="Aptos"/>
                <a:cs typeface="Aptos"/>
              </a:rPr>
              <a:t>Built</a:t>
            </a:r>
          </a:p>
        </p:txBody>
      </p:sp>
      <p:sp>
        <p:nvSpPr>
          <p:cNvPr id="35" name="coverage-rule-2">
            <a:extLst xmlns:a="http://schemas.openxmlformats.org/drawingml/2006/main">
              <a:ext uri="{FF2B5EF4-FFF2-40B4-BE49-F238E27FC236}">
                <a16:creationId xmlns:a16="http://schemas.microsoft.com/office/drawing/2014/main" id="{414DC8A8-8AFB-41FE-8839-F43857E9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62375"/>
            <a:ext cx="758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coverage-cap-2">
            <a:extLst xmlns:a="http://schemas.openxmlformats.org/drawingml/2006/main">
              <a:ext uri="{FF2B5EF4-FFF2-40B4-BE49-F238E27FC236}">
                <a16:creationId xmlns:a16="http://schemas.microsoft.com/office/drawing/2014/main" id="{EE99172E-AA93-4E8C-80D5-3A23D026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481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Automation</a:t>
            </a:r>
          </a:p>
        </p:txBody>
      </p:sp>
      <p:sp>
        <p:nvSpPr>
          <p:cNvPr id="37" name="coverage-desc-2">
            <a:extLst xmlns:a="http://schemas.openxmlformats.org/drawingml/2006/main">
              <a:ext uri="{FF2B5EF4-FFF2-40B4-BE49-F238E27FC236}">
                <a16:creationId xmlns:a16="http://schemas.microsoft.com/office/drawing/2014/main" id="{3FA43403-15DB-4B92-9249-2FB938C7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4810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Approval flow, OAuth mock ERP sync, confirmation email, Try/Catch scopes, error logging</a:t>
            </a:r>
          </a:p>
        </p:txBody>
      </p:sp>
      <p:sp>
        <p:nvSpPr>
          <p:cNvPr id="38" name="coverage-status-2">
            <a:extLst xmlns:a="http://schemas.openxmlformats.org/drawingml/2006/main">
              <a:ext uri="{FF2B5EF4-FFF2-40B4-BE49-F238E27FC236}">
                <a16:creationId xmlns:a16="http://schemas.microsoft.com/office/drawing/2014/main" id="{9B0D46D1-C4A0-4CDB-A362-0C15426C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86715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C"/>
          </a:solidFill>
          <a:ln xmlns:a="http://schemas.openxmlformats.org/drawingml/2006/main" w="9525">
            <a:solidFill>
              <a:srgbClr val="BCE3CA"/>
            </a:solidFill>
            <a:prstDash val="solid"/>
          </a:ln>
        </p:spPr>
      </p:sp>
      <p:sp>
        <p:nvSpPr>
          <p:cNvPr id="39" name="coverage-status-2-text">
            <a:extLst xmlns:a="http://schemas.openxmlformats.org/drawingml/2006/main">
              <a:ext uri="{FF2B5EF4-FFF2-40B4-BE49-F238E27FC236}">
                <a16:creationId xmlns:a16="http://schemas.microsoft.com/office/drawing/2014/main" id="{62531B7D-9F27-4F9A-B819-15394266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14775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7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A43"/>
                </a:solidFill>
                <a:latin typeface="Aptos"/>
                <a:ea typeface="Aptos"/>
                <a:cs typeface="Aptos"/>
              </a:rPr>
              <a:t>Built</a:t>
            </a:r>
          </a:p>
        </p:txBody>
      </p:sp>
      <p:sp>
        <p:nvSpPr>
          <p:cNvPr id="40" name="coverage-rule-3">
            <a:extLst xmlns:a="http://schemas.openxmlformats.org/drawingml/2006/main">
              <a:ext uri="{FF2B5EF4-FFF2-40B4-BE49-F238E27FC236}">
                <a16:creationId xmlns:a16="http://schemas.microsoft.com/office/drawing/2014/main" id="{560D7747-5E1A-4A3C-BEB8-FF024494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57675"/>
            <a:ext cx="758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coverage-cap-3">
            <a:extLst xmlns:a="http://schemas.openxmlformats.org/drawingml/2006/main">
              <a:ext uri="{FF2B5EF4-FFF2-40B4-BE49-F238E27FC236}">
                <a16:creationId xmlns:a16="http://schemas.microsoft.com/office/drawing/2014/main" id="{E8E0FDF9-779C-4C5B-9410-C5FED881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434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Pro-code</a:t>
            </a:r>
          </a:p>
        </p:txBody>
      </p:sp>
      <p:sp>
        <p:nvSpPr>
          <p:cNvPr id="42" name="coverage-desc-3">
            <a:extLst xmlns:a="http://schemas.openxmlformats.org/drawingml/2006/main">
              <a:ext uri="{FF2B5EF4-FFF2-40B4-BE49-F238E27FC236}">
                <a16:creationId xmlns:a16="http://schemas.microsoft.com/office/drawing/2014/main" id="{19219E07-8ED1-4938-A652-EBD31CA1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34340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Routing plugin, closure guard plugin, protected-field policy, PCF SLA/status indicator</a:t>
            </a:r>
          </a:p>
        </p:txBody>
      </p:sp>
      <p:sp>
        <p:nvSpPr>
          <p:cNvPr id="43" name="coverage-status-3">
            <a:extLst xmlns:a="http://schemas.openxmlformats.org/drawingml/2006/main">
              <a:ext uri="{FF2B5EF4-FFF2-40B4-BE49-F238E27FC236}">
                <a16:creationId xmlns:a16="http://schemas.microsoft.com/office/drawing/2014/main" id="{DB09775F-E31E-44F0-974E-8A3AE21C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36245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C"/>
          </a:solidFill>
          <a:ln xmlns:a="http://schemas.openxmlformats.org/drawingml/2006/main" w="9525">
            <a:solidFill>
              <a:srgbClr val="BCE3CA"/>
            </a:solidFill>
            <a:prstDash val="solid"/>
          </a:ln>
        </p:spPr>
      </p:sp>
      <p:sp>
        <p:nvSpPr>
          <p:cNvPr id="44" name="coverage-status-3-text">
            <a:extLst xmlns:a="http://schemas.openxmlformats.org/drawingml/2006/main">
              <a:ext uri="{FF2B5EF4-FFF2-40B4-BE49-F238E27FC236}">
                <a16:creationId xmlns:a16="http://schemas.microsoft.com/office/drawing/2014/main" id="{1BC91E33-4E25-43EF-81AD-52C48EEB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10075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7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A43"/>
                </a:solidFill>
                <a:latin typeface="Aptos"/>
                <a:ea typeface="Aptos"/>
                <a:cs typeface="Aptos"/>
              </a:rPr>
              <a:t>Built</a:t>
            </a:r>
          </a:p>
        </p:txBody>
      </p:sp>
      <p:sp>
        <p:nvSpPr>
          <p:cNvPr id="45" name="coverage-rule-4">
            <a:extLst xmlns:a="http://schemas.openxmlformats.org/drawingml/2006/main">
              <a:ext uri="{FF2B5EF4-FFF2-40B4-BE49-F238E27FC236}">
                <a16:creationId xmlns:a16="http://schemas.microsoft.com/office/drawing/2014/main" id="{28955328-F527-4370-ABB4-D931828F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752975"/>
            <a:ext cx="758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coverage-cap-4">
            <a:extLst xmlns:a="http://schemas.openxmlformats.org/drawingml/2006/main">
              <a:ext uri="{FF2B5EF4-FFF2-40B4-BE49-F238E27FC236}">
                <a16:creationId xmlns:a16="http://schemas.microsoft.com/office/drawing/2014/main" id="{43140907-71BE-4534-8932-449B9BD8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387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47" name="coverage-desc-4">
            <a:extLst xmlns:a="http://schemas.openxmlformats.org/drawingml/2006/main">
              <a:ext uri="{FF2B5EF4-FFF2-40B4-BE49-F238E27FC236}">
                <a16:creationId xmlns:a16="http://schemas.microsoft.com/office/drawing/2014/main" id="{DC57B64D-A76A-4641-B5B0-A1656E3D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83870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Contact-scoped portal access, field allowlists, internal field protection, secret-free repo</a:t>
            </a:r>
          </a:p>
        </p:txBody>
      </p:sp>
      <p:sp>
        <p:nvSpPr>
          <p:cNvPr id="48" name="coverage-status-4">
            <a:extLst xmlns:a="http://schemas.openxmlformats.org/drawingml/2006/main">
              <a:ext uri="{FF2B5EF4-FFF2-40B4-BE49-F238E27FC236}">
                <a16:creationId xmlns:a16="http://schemas.microsoft.com/office/drawing/2014/main" id="{2928CCA9-681B-4AB3-BDC2-EA6923CF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85775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C"/>
          </a:solidFill>
          <a:ln xmlns:a="http://schemas.openxmlformats.org/drawingml/2006/main" w="9525">
            <a:solidFill>
              <a:srgbClr val="BCE3CA"/>
            </a:solidFill>
            <a:prstDash val="solid"/>
          </a:ln>
        </p:spPr>
      </p:sp>
      <p:sp>
        <p:nvSpPr>
          <p:cNvPr id="49" name="coverage-status-4-text">
            <a:extLst xmlns:a="http://schemas.openxmlformats.org/drawingml/2006/main">
              <a:ext uri="{FF2B5EF4-FFF2-40B4-BE49-F238E27FC236}">
                <a16:creationId xmlns:a16="http://schemas.microsoft.com/office/drawing/2014/main" id="{0F506601-558A-43A3-B20A-1A596DE8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905375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7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A43"/>
                </a:solidFill>
                <a:latin typeface="Aptos"/>
                <a:ea typeface="Aptos"/>
                <a:cs typeface="Aptos"/>
              </a:rPr>
              <a:t>Built</a:t>
            </a:r>
          </a:p>
        </p:txBody>
      </p:sp>
      <p:sp>
        <p:nvSpPr>
          <p:cNvPr id="50" name="coverage-rule-5">
            <a:extLst xmlns:a="http://schemas.openxmlformats.org/drawingml/2006/main">
              <a:ext uri="{FF2B5EF4-FFF2-40B4-BE49-F238E27FC236}">
                <a16:creationId xmlns:a16="http://schemas.microsoft.com/office/drawing/2014/main" id="{273A423E-E4E2-41E8-A55C-2144D37F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48275"/>
            <a:ext cx="758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coverage-cap-5">
            <a:extLst xmlns:a="http://schemas.openxmlformats.org/drawingml/2006/main">
              <a:ext uri="{FF2B5EF4-FFF2-40B4-BE49-F238E27FC236}">
                <a16:creationId xmlns:a16="http://schemas.microsoft.com/office/drawing/2014/main" id="{A15EE354-4418-4F9D-A2A0-52F01127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3340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ALM</a:t>
            </a:r>
          </a:p>
        </p:txBody>
      </p:sp>
      <p:sp>
        <p:nvSpPr>
          <p:cNvPr id="52" name="coverage-desc-5">
            <a:extLst xmlns:a="http://schemas.openxmlformats.org/drawingml/2006/main">
              <a:ext uri="{FF2B5EF4-FFF2-40B4-BE49-F238E27FC236}">
                <a16:creationId xmlns:a16="http://schemas.microsoft.com/office/drawing/2014/main" id="{14651D82-34B6-4003-B9FE-C023E449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33400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Managed/unmanaged exports, PAC unpacked source, source repo, docs, demo script, verification notes</a:t>
            </a:r>
          </a:p>
        </p:txBody>
      </p:sp>
      <p:sp>
        <p:nvSpPr>
          <p:cNvPr id="53" name="coverage-status-5">
            <a:extLst xmlns:a="http://schemas.openxmlformats.org/drawingml/2006/main">
              <a:ext uri="{FF2B5EF4-FFF2-40B4-BE49-F238E27FC236}">
                <a16:creationId xmlns:a16="http://schemas.microsoft.com/office/drawing/2014/main" id="{264192F9-C15C-4750-B165-CC9159D0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35305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C"/>
          </a:solidFill>
          <a:ln xmlns:a="http://schemas.openxmlformats.org/drawingml/2006/main" w="9525">
            <a:solidFill>
              <a:srgbClr val="BCE3CA"/>
            </a:solidFill>
            <a:prstDash val="solid"/>
          </a:ln>
        </p:spPr>
      </p:sp>
      <p:sp>
        <p:nvSpPr>
          <p:cNvPr id="54" name="coverage-status-5-text">
            <a:extLst xmlns:a="http://schemas.openxmlformats.org/drawingml/2006/main">
              <a:ext uri="{FF2B5EF4-FFF2-40B4-BE49-F238E27FC236}">
                <a16:creationId xmlns:a16="http://schemas.microsoft.com/office/drawing/2014/main" id="{97A92E34-6B18-400C-A93A-C829476E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400675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7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A43"/>
                </a:solidFill>
                <a:latin typeface="Aptos"/>
                <a:ea typeface="Aptos"/>
                <a:cs typeface="Aptos"/>
              </a:rPr>
              <a:t>Built</a:t>
            </a:r>
          </a:p>
        </p:txBody>
      </p:sp>
      <p:sp>
        <p:nvSpPr>
          <p:cNvPr id="5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02B7D0D-28F6-46F0-AF0C-ED9EFA07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A29CC280-FEE3-4C35-978D-4960EEFD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C8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C8E"/>
                </a:solidFill>
                <a:latin typeface="Aptos"/>
                <a:ea typeface="Aptos"/>
                <a:cs typeface="Aptos"/>
              </a:rPr>
              <a:t>Enterprise Service Intake | Power Platform Senior Developer take-home | May 2026</a:t>
            </a:r>
          </a:p>
        </p:txBody>
      </p:sp>
      <p:sp>
        <p:nvSpPr>
          <p:cNvPr id="5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8E2F8AB-E0BA-4D7B-B891-057C6537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C8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C8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31915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86C9EBF-3A10-4005-AA7C-D770FCA8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A32F189-E5B4-490F-97E6-C6C971C2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D820033-6C7A-44B7-82AB-CEEFE974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7B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67B1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17B505F7-2C94-4E58-83F8-DF153E6D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00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23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2231"/>
                </a:solidFill>
                <a:latin typeface="Aptos Display"/>
                <a:ea typeface="Aptos Display"/>
                <a:cs typeface="Aptos Display"/>
              </a:rPr>
              <a:t>Dataverse is the authority; each platform component owns the work it enforces best.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5D129F53-FA0D-4B3C-BD77-670DC15A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81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The design separates customer experience, transactional rules, human workflow, integration, and operational telemetry.</a:t>
            </a:r>
          </a:p>
        </p:txBody>
      </p:sp>
      <p:sp>
        <p:nvSpPr>
          <p:cNvPr id="6" name="architecture-image-frame">
            <a:extLst xmlns:a="http://schemas.openxmlformats.org/drawingml/2006/main">
              <a:ext uri="{FF2B5EF4-FFF2-40B4-BE49-F238E27FC236}">
                <a16:creationId xmlns:a16="http://schemas.microsoft.com/office/drawing/2014/main" id="{885BE9EA-CCE7-402B-921D-C357F1FA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72580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617c52e5941a5"/>
          <a:stretch xmlns:a="http://schemas.openxmlformats.org/drawingml/2006/main"/>
        </p:blipFill>
        <p:spPr>
          <a:xfrm xmlns:a="http://schemas.openxmlformats.org/drawingml/2006/main">
            <a:off x="1485416" y="2476500"/>
            <a:ext cx="5392119" cy="3181350"/>
          </a:xfrm>
          <a:prstGeom xmlns:a="http://schemas.openxmlformats.org/drawingml/2006/main" prst="rect">
            <a:avLst/>
          </a:prstGeom>
        </p:spPr>
      </p:pic>
      <p:sp>
        <p:nvSpPr>
          <p:cNvPr id="8" name="arch-card-dataverse">
            <a:extLst xmlns:a="http://schemas.openxmlformats.org/drawingml/2006/main">
              <a:ext uri="{FF2B5EF4-FFF2-40B4-BE49-F238E27FC236}">
                <a16:creationId xmlns:a16="http://schemas.microsoft.com/office/drawing/2014/main" id="{C93A3F92-9AA9-4EF2-877E-977A1C5A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3181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9" name="arch-card-dataverse-accent">
            <a:extLst xmlns:a="http://schemas.openxmlformats.org/drawingml/2006/main">
              <a:ext uri="{FF2B5EF4-FFF2-40B4-BE49-F238E27FC236}">
                <a16:creationId xmlns:a16="http://schemas.microsoft.com/office/drawing/2014/main" id="{1D8EC488-70A2-4A70-A88A-B2AA9271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arch-card-dataverse-label">
            <a:extLst xmlns:a="http://schemas.openxmlformats.org/drawingml/2006/main">
              <a:ext uri="{FF2B5EF4-FFF2-40B4-BE49-F238E27FC236}">
                <a16:creationId xmlns:a16="http://schemas.microsoft.com/office/drawing/2014/main" id="{A017DAD4-0C2D-4193-822D-4A0FFAE5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19350"/>
            <a:ext cx="2838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SYSTEM OF RECORD</a:t>
            </a:r>
          </a:p>
        </p:txBody>
      </p:sp>
      <p:sp>
        <p:nvSpPr>
          <p:cNvPr id="11" name="arch-card-dataverse-value">
            <a:extLst xmlns:a="http://schemas.openxmlformats.org/drawingml/2006/main">
              <a:ext uri="{FF2B5EF4-FFF2-40B4-BE49-F238E27FC236}">
                <a16:creationId xmlns:a16="http://schemas.microsoft.com/office/drawing/2014/main" id="{32D03B67-0FA3-4930-A2F5-C0D67EA1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76525"/>
            <a:ext cx="2838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Dataverse</a:t>
            </a:r>
          </a:p>
        </p:txBody>
      </p:sp>
      <p:sp>
        <p:nvSpPr>
          <p:cNvPr id="12" name="arch-card-dataverse-note">
            <a:extLst xmlns:a="http://schemas.openxmlformats.org/drawingml/2006/main">
              <a:ext uri="{FF2B5EF4-FFF2-40B4-BE49-F238E27FC236}">
                <a16:creationId xmlns:a16="http://schemas.microsoft.com/office/drawing/2014/main" id="{FCCD0166-2F6E-4A90-ACC7-0228444F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28950"/>
            <a:ext cx="2838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Requests, rules, evidence, sync logs, and error logs.</a:t>
            </a:r>
          </a:p>
        </p:txBody>
      </p:sp>
      <p:sp>
        <p:nvSpPr>
          <p:cNvPr id="13" name="arch-card-plugin">
            <a:extLst xmlns:a="http://schemas.openxmlformats.org/drawingml/2006/main">
              <a:ext uri="{FF2B5EF4-FFF2-40B4-BE49-F238E27FC236}">
                <a16:creationId xmlns:a16="http://schemas.microsoft.com/office/drawing/2014/main" id="{7F6CFDEB-3BE0-4402-9BC3-5CEBC57A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24250"/>
            <a:ext cx="3181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4" name="arch-card-plugin-accent">
            <a:extLst xmlns:a="http://schemas.openxmlformats.org/drawingml/2006/main">
              <a:ext uri="{FF2B5EF4-FFF2-40B4-BE49-F238E27FC236}">
                <a16:creationId xmlns:a16="http://schemas.microsoft.com/office/drawing/2014/main" id="{AAA612F5-8C81-4976-B0C7-E2696172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242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arch-card-plugin-label">
            <a:extLst xmlns:a="http://schemas.openxmlformats.org/drawingml/2006/main">
              <a:ext uri="{FF2B5EF4-FFF2-40B4-BE49-F238E27FC236}">
                <a16:creationId xmlns:a16="http://schemas.microsoft.com/office/drawing/2014/main" id="{4BBA7F65-311E-4FAB-A6B5-15FF5A44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76650"/>
            <a:ext cx="2838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TRANSACTIONAL LOGIC</a:t>
            </a:r>
          </a:p>
        </p:txBody>
      </p:sp>
      <p:sp>
        <p:nvSpPr>
          <p:cNvPr id="16" name="arch-card-plugin-value">
            <a:extLst xmlns:a="http://schemas.openxmlformats.org/drawingml/2006/main">
              <a:ext uri="{FF2B5EF4-FFF2-40B4-BE49-F238E27FC236}">
                <a16:creationId xmlns:a16="http://schemas.microsoft.com/office/drawing/2014/main" id="{7310A9A1-4F38-4193-A366-0C612BE4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33825"/>
            <a:ext cx="2838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C# plugin</a:t>
            </a:r>
          </a:p>
        </p:txBody>
      </p:sp>
      <p:sp>
        <p:nvSpPr>
          <p:cNvPr id="17" name="arch-card-plugin-note">
            <a:extLst xmlns:a="http://schemas.openxmlformats.org/drawingml/2006/main">
              <a:ext uri="{FF2B5EF4-FFF2-40B4-BE49-F238E27FC236}">
                <a16:creationId xmlns:a16="http://schemas.microsoft.com/office/drawing/2014/main" id="{DBE73A78-F3F7-4B6C-859A-2E0F2903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86250"/>
            <a:ext cx="2838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Routing and close guard run before Dataverse commit.</a:t>
            </a:r>
          </a:p>
        </p:txBody>
      </p:sp>
      <p:sp>
        <p:nvSpPr>
          <p:cNvPr id="18" name="arch-card-flow">
            <a:extLst xmlns:a="http://schemas.openxmlformats.org/drawingml/2006/main">
              <a:ext uri="{FF2B5EF4-FFF2-40B4-BE49-F238E27FC236}">
                <a16:creationId xmlns:a16="http://schemas.microsoft.com/office/drawing/2014/main" id="{C24702C3-0AC7-4551-8E06-FDECB874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81550"/>
            <a:ext cx="3181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9" name="arch-card-flow-accent">
            <a:extLst xmlns:a="http://schemas.openxmlformats.org/drawingml/2006/main">
              <a:ext uri="{FF2B5EF4-FFF2-40B4-BE49-F238E27FC236}">
                <a16:creationId xmlns:a16="http://schemas.microsoft.com/office/drawing/2014/main" id="{67175428-C917-4347-BD13-1F0EA61C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815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arch-card-flow-label">
            <a:extLst xmlns:a="http://schemas.openxmlformats.org/drawingml/2006/main">
              <a:ext uri="{FF2B5EF4-FFF2-40B4-BE49-F238E27FC236}">
                <a16:creationId xmlns:a16="http://schemas.microsoft.com/office/drawing/2014/main" id="{2C0CA776-BAC1-4C66-BE3B-B2A84FE2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33950"/>
            <a:ext cx="2838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LONG-RUNNING WORK</a:t>
            </a:r>
          </a:p>
        </p:txBody>
      </p:sp>
      <p:sp>
        <p:nvSpPr>
          <p:cNvPr id="21" name="arch-card-flow-value">
            <a:extLst xmlns:a="http://schemas.openxmlformats.org/drawingml/2006/main">
              <a:ext uri="{FF2B5EF4-FFF2-40B4-BE49-F238E27FC236}">
                <a16:creationId xmlns:a16="http://schemas.microsoft.com/office/drawing/2014/main" id="{A1681CE3-9B70-43D4-9554-16ED0492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91125"/>
            <a:ext cx="2838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Power Automate</a:t>
            </a:r>
          </a:p>
        </p:txBody>
      </p:sp>
      <p:sp>
        <p:nvSpPr>
          <p:cNvPr id="22" name="arch-card-flow-note">
            <a:extLst xmlns:a="http://schemas.openxmlformats.org/drawingml/2006/main">
              <a:ext uri="{FF2B5EF4-FFF2-40B4-BE49-F238E27FC236}">
                <a16:creationId xmlns:a16="http://schemas.microsoft.com/office/drawing/2014/main" id="{0F54EBB9-C6EF-4C16-A95D-98A7F26B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43550"/>
            <a:ext cx="2838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Approvals, OAuth, REST POST, run history, and Catch logging.</a:t>
            </a:r>
          </a:p>
        </p:txBody>
      </p:sp>
      <p:sp>
        <p:nvSpPr>
          <p:cNvPr id="23" name="architecture-placement-note">
            <a:extLst xmlns:a="http://schemas.openxmlformats.org/drawingml/2006/main">
              <a:ext uri="{FF2B5EF4-FFF2-40B4-BE49-F238E27FC236}">
                <a16:creationId xmlns:a16="http://schemas.microsoft.com/office/drawing/2014/main" id="{4D25FCF1-1553-4BAA-8086-DCEDE93E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962650"/>
            <a:ext cx="3162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Placement principle: low-code for orchestration and UX; plugins for non-bypassable business rules.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D7F4649-99C1-4BCA-B72E-4A5C0727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5E17069-97B1-4376-81E0-817C400A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C8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C8E"/>
                </a:solidFill>
                <a:latin typeface="Aptos"/>
                <a:ea typeface="Aptos"/>
                <a:cs typeface="Aptos"/>
              </a:rPr>
              <a:t>Enterprise Service Intake | Power Platform Senior Developer take-home | May 2026</a:t>
            </a:r>
          </a:p>
        </p:txBody>
      </p:sp>
      <p:sp>
        <p:nvSpPr>
          <p:cNvPr id="2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95717AC-33E2-497D-B3BF-9E2D06C7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C8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C8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461271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E1177B0-870E-4D60-BB4B-D2AD04E3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6DC6238-DACD-423F-B92F-4F5C1896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502289A-5B7D-4111-9B3E-01779C57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7B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67B1"/>
                </a:solidFill>
                <a:latin typeface="Aptos"/>
                <a:ea typeface="Aptos"/>
                <a:cs typeface="Aptos"/>
              </a:rPr>
              <a:t>DATA STRATEGY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676C400-C582-4BA0-BC6E-2A21BB23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00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23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2231"/>
                </a:solidFill>
                <a:latin typeface="Aptos Display"/>
                <a:ea typeface="Aptos Display"/>
                <a:cs typeface="Aptos Display"/>
              </a:rPr>
              <a:t>Request state, routing, evidence, sync, and errors are separated for scale and auditability.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5B00B472-7BEE-4947-98A8-C197C600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81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The model keeps customer-facing intake simple while preserving internal controls and integration telemetry.</a:t>
            </a:r>
          </a:p>
        </p:txBody>
      </p:sp>
      <p:sp>
        <p:nvSpPr>
          <p:cNvPr id="6" name="erd-frame">
            <a:extLst xmlns:a="http://schemas.openxmlformats.org/drawingml/2006/main">
              <a:ext uri="{FF2B5EF4-FFF2-40B4-BE49-F238E27FC236}">
                <a16:creationId xmlns:a16="http://schemas.microsoft.com/office/drawing/2014/main" id="{76CA4CD7-1A6F-42DE-9BC5-412A3B46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65532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8d74045394fc0"/>
          <a:stretch xmlns:a="http://schemas.openxmlformats.org/drawingml/2006/main"/>
        </p:blipFill>
        <p:spPr>
          <a:xfrm xmlns:a="http://schemas.openxmlformats.org/drawingml/2006/main">
            <a:off x="1496483" y="2419350"/>
            <a:ext cx="4665133" cy="3314700"/>
          </a:xfrm>
          <a:prstGeom xmlns:a="http://schemas.openxmlformats.org/drawingml/2006/main" prst="rect">
            <a:avLst/>
          </a:prstGeom>
        </p:spPr>
      </p:pic>
      <p:sp>
        <p:nvSpPr>
          <p:cNvPr id="8" name="data-confirmation">
            <a:extLst xmlns:a="http://schemas.openxmlformats.org/drawingml/2006/main">
              <a:ext uri="{FF2B5EF4-FFF2-40B4-BE49-F238E27FC236}">
                <a16:creationId xmlns:a16="http://schemas.microsoft.com/office/drawing/2014/main" id="{F9DF1885-110C-4884-99C1-C70399AF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47900"/>
            <a:ext cx="3810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9" name="data-confirmation-accent">
            <a:extLst xmlns:a="http://schemas.openxmlformats.org/drawingml/2006/main">
              <a:ext uri="{FF2B5EF4-FFF2-40B4-BE49-F238E27FC236}">
                <a16:creationId xmlns:a16="http://schemas.microsoft.com/office/drawing/2014/main" id="{3748F438-C19F-4722-AEFA-B5ED8111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4790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data-confirmation-label">
            <a:extLst xmlns:a="http://schemas.openxmlformats.org/drawingml/2006/main">
              <a:ext uri="{FF2B5EF4-FFF2-40B4-BE49-F238E27FC236}">
                <a16:creationId xmlns:a16="http://schemas.microsoft.com/office/drawing/2014/main" id="{8E9547E4-AD87-414F-A100-EDC585BB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00300"/>
            <a:ext cx="3467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FORMATTED CONFIRMATION</a:t>
            </a:r>
          </a:p>
        </p:txBody>
      </p:sp>
      <p:sp>
        <p:nvSpPr>
          <p:cNvPr id="11" name="data-confirmation-value">
            <a:extLst xmlns:a="http://schemas.openxmlformats.org/drawingml/2006/main">
              <a:ext uri="{FF2B5EF4-FFF2-40B4-BE49-F238E27FC236}">
                <a16:creationId xmlns:a16="http://schemas.microsoft.com/office/drawing/2014/main" id="{9E8008B8-7EE8-4306-ACFF-7A5CCE77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57475"/>
            <a:ext cx="3467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SR-yyyyMMdd-######</a:t>
            </a:r>
          </a:p>
        </p:txBody>
      </p:sp>
      <p:sp>
        <p:nvSpPr>
          <p:cNvPr id="12" name="data-confirmation-note">
            <a:extLst xmlns:a="http://schemas.openxmlformats.org/drawingml/2006/main">
              <a:ext uri="{FF2B5EF4-FFF2-40B4-BE49-F238E27FC236}">
                <a16:creationId xmlns:a16="http://schemas.microsoft.com/office/drawing/2014/main" id="{DC4C6599-188B-4411-B7D7-383380D1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3467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Server-generated; users never supply it.</a:t>
            </a:r>
          </a:p>
        </p:txBody>
      </p:sp>
      <p:sp>
        <p:nvSpPr>
          <p:cNvPr id="13" name="data-rules">
            <a:extLst xmlns:a="http://schemas.openxmlformats.org/drawingml/2006/main">
              <a:ext uri="{FF2B5EF4-FFF2-40B4-BE49-F238E27FC236}">
                <a16:creationId xmlns:a16="http://schemas.microsoft.com/office/drawing/2014/main" id="{80EEE17A-9CF7-4753-A1B6-08C082E9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33750"/>
            <a:ext cx="3810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4" name="data-rules-accent">
            <a:extLst xmlns:a="http://schemas.openxmlformats.org/drawingml/2006/main">
              <a:ext uri="{FF2B5EF4-FFF2-40B4-BE49-F238E27FC236}">
                <a16:creationId xmlns:a16="http://schemas.microsoft.com/office/drawing/2014/main" id="{43E23574-C3DE-4942-A334-0D33120F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3375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data-rules-label">
            <a:extLst xmlns:a="http://schemas.openxmlformats.org/drawingml/2006/main">
              <a:ext uri="{FF2B5EF4-FFF2-40B4-BE49-F238E27FC236}">
                <a16:creationId xmlns:a16="http://schemas.microsoft.com/office/drawing/2014/main" id="{23E1CF34-5DA7-4318-89B8-EABEDE1E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86150"/>
            <a:ext cx="3467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RULES AS DATA</a:t>
            </a:r>
          </a:p>
        </p:txBody>
      </p:sp>
      <p:sp>
        <p:nvSpPr>
          <p:cNvPr id="16" name="data-rules-value">
            <a:extLst xmlns:a="http://schemas.openxmlformats.org/drawingml/2006/main">
              <a:ext uri="{FF2B5EF4-FFF2-40B4-BE49-F238E27FC236}">
                <a16:creationId xmlns:a16="http://schemas.microsoft.com/office/drawing/2014/main" id="{F31CFDF2-90B9-400A-BD2F-65A89934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43325"/>
            <a:ext cx="3467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80 exact-match rows</a:t>
            </a:r>
          </a:p>
        </p:txBody>
      </p:sp>
      <p:sp>
        <p:nvSpPr>
          <p:cNvPr id="17" name="data-rules-note">
            <a:extLst xmlns:a="http://schemas.openxmlformats.org/drawingml/2006/main">
              <a:ext uri="{FF2B5EF4-FFF2-40B4-BE49-F238E27FC236}">
                <a16:creationId xmlns:a16="http://schemas.microsoft.com/office/drawing/2014/main" id="{63EBF833-BEDB-4848-9920-7E568FAD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3467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Complete category x impact x urgency coverage.</a:t>
            </a:r>
          </a:p>
        </p:txBody>
      </p:sp>
      <p:sp>
        <p:nvSpPr>
          <p:cNvPr id="18" name="data-evidence">
            <a:extLst xmlns:a="http://schemas.openxmlformats.org/drawingml/2006/main">
              <a:ext uri="{FF2B5EF4-FFF2-40B4-BE49-F238E27FC236}">
                <a16:creationId xmlns:a16="http://schemas.microsoft.com/office/drawing/2014/main" id="{AAC67D08-2EE4-4396-A5E6-7DF8A248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19600"/>
            <a:ext cx="3810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9" name="data-evidence-accent">
            <a:extLst xmlns:a="http://schemas.openxmlformats.org/drawingml/2006/main">
              <a:ext uri="{FF2B5EF4-FFF2-40B4-BE49-F238E27FC236}">
                <a16:creationId xmlns:a16="http://schemas.microsoft.com/office/drawing/2014/main" id="{D8112B60-87CF-47AC-8B78-BEFD464B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1960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data-evidence-label">
            <a:extLst xmlns:a="http://schemas.openxmlformats.org/drawingml/2006/main">
              <a:ext uri="{FF2B5EF4-FFF2-40B4-BE49-F238E27FC236}">
                <a16:creationId xmlns:a16="http://schemas.microsoft.com/office/drawing/2014/main" id="{FC37EC43-C7B0-4EA2-BBEC-4E84A0CB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72000"/>
            <a:ext cx="3467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EVIDENCE STRATEGY</a:t>
            </a:r>
          </a:p>
        </p:txBody>
      </p:sp>
      <p:sp>
        <p:nvSpPr>
          <p:cNvPr id="21" name="data-evidence-value">
            <a:extLst xmlns:a="http://schemas.openxmlformats.org/drawingml/2006/main">
              <a:ext uri="{FF2B5EF4-FFF2-40B4-BE49-F238E27FC236}">
                <a16:creationId xmlns:a16="http://schemas.microsoft.com/office/drawing/2014/main" id="{BAB622F3-6201-4AA2-ACB3-7F6A18A4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29175"/>
            <a:ext cx="3467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SharePoint + Dataverse</a:t>
            </a:r>
          </a:p>
        </p:txBody>
      </p:sp>
      <p:sp>
        <p:nvSpPr>
          <p:cNvPr id="22" name="data-evidence-note">
            <a:extLst xmlns:a="http://schemas.openxmlformats.org/drawingml/2006/main">
              <a:ext uri="{FF2B5EF4-FFF2-40B4-BE49-F238E27FC236}">
                <a16:creationId xmlns:a16="http://schemas.microsoft.com/office/drawing/2014/main" id="{10ED3A8A-A4DA-47FF-BB0A-397F8B29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81600"/>
            <a:ext cx="3467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Files stay in SharePoint; review metadata stays in Dataverse.</a:t>
            </a:r>
          </a:p>
        </p:txBody>
      </p:sp>
      <p:sp>
        <p:nvSpPr>
          <p:cNvPr id="23" name="data-bullets-0-dot">
            <a:extLst xmlns:a="http://schemas.openxmlformats.org/drawingml/2006/main">
              <a:ext uri="{FF2B5EF4-FFF2-40B4-BE49-F238E27FC236}">
                <a16:creationId xmlns:a16="http://schemas.microsoft.com/office/drawing/2014/main" id="{F0DCBA28-CE1F-4345-B2D6-A22A7D1C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667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data-bullets-0-text">
            <a:extLst xmlns:a="http://schemas.openxmlformats.org/drawingml/2006/main">
              <a:ext uri="{FF2B5EF4-FFF2-40B4-BE49-F238E27FC236}">
                <a16:creationId xmlns:a16="http://schemas.microsoft.com/office/drawing/2014/main" id="{6E0F232F-6672-4EE4-B538-5A176F88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81650"/>
            <a:ext cx="3448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62231"/>
                </a:solidFill>
                <a:latin typeface="Aptos"/>
                <a:ea typeface="Aptos"/>
                <a:cs typeface="Aptos"/>
              </a:rPr>
              <a:t>External customers see only their own requests.</a:t>
            </a:r>
          </a:p>
        </p:txBody>
      </p:sp>
      <p:sp>
        <p:nvSpPr>
          <p:cNvPr id="25" name="data-bullets-1-dot">
            <a:extLst xmlns:a="http://schemas.openxmlformats.org/drawingml/2006/main">
              <a:ext uri="{FF2B5EF4-FFF2-40B4-BE49-F238E27FC236}">
                <a16:creationId xmlns:a16="http://schemas.microsoft.com/office/drawing/2014/main" id="{D07D9B91-AC7E-42C4-90C6-5FBCA0F4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905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data-bullets-1-text">
            <a:extLst xmlns:a="http://schemas.openxmlformats.org/drawingml/2006/main">
              <a:ext uri="{FF2B5EF4-FFF2-40B4-BE49-F238E27FC236}">
                <a16:creationId xmlns:a16="http://schemas.microsoft.com/office/drawing/2014/main" id="{339C75B0-513F-4AF6-8B4C-CF339DCA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819775"/>
            <a:ext cx="3448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62231"/>
                </a:solidFill>
                <a:latin typeface="Aptos"/>
                <a:ea typeface="Aptos"/>
                <a:cs typeface="Aptos"/>
              </a:rPr>
              <a:t>Internal fields and logs stay out of the portal.</a:t>
            </a:r>
          </a:p>
        </p:txBody>
      </p:sp>
      <p:sp>
        <p:nvSpPr>
          <p:cNvPr id="27" name="data-bullets-2-dot">
            <a:extLst xmlns:a="http://schemas.openxmlformats.org/drawingml/2006/main">
              <a:ext uri="{FF2B5EF4-FFF2-40B4-BE49-F238E27FC236}">
                <a16:creationId xmlns:a16="http://schemas.microsoft.com/office/drawing/2014/main" id="{044D9F0E-0BDD-4181-8B3D-706AF999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143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data-bullets-2-text">
            <a:extLst xmlns:a="http://schemas.openxmlformats.org/drawingml/2006/main">
              <a:ext uri="{FF2B5EF4-FFF2-40B4-BE49-F238E27FC236}">
                <a16:creationId xmlns:a16="http://schemas.microsoft.com/office/drawing/2014/main" id="{AFBEDD04-DBA9-462D-99F6-55031E6A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057900"/>
            <a:ext cx="3448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62231"/>
                </a:solidFill>
                <a:latin typeface="Aptos"/>
                <a:ea typeface="Aptos"/>
                <a:cs typeface="Aptos"/>
              </a:rPr>
              <a:t>ERP and automation errors are queryable records, not hidden run failures.</a:t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ECA80F5-4918-4FF7-8A72-A361A69B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B4D0D0B-5BA0-4CA0-B33C-21897C61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C8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C8E"/>
                </a:solidFill>
                <a:latin typeface="Aptos"/>
                <a:ea typeface="Aptos"/>
                <a:cs typeface="Aptos"/>
              </a:rPr>
              <a:t>Enterprise Service Intake | Power Platform Senior Developer take-home | May 2026</a:t>
            </a:r>
          </a:p>
        </p:txBody>
      </p:sp>
      <p:sp>
        <p:nvSpPr>
          <p:cNvPr id="3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DFE3F1B-5E79-4BA5-B0EE-26456C7D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C8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C8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59770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D084DF3-8E93-44D4-ADA6-6621CBCC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6EA3B3A-8E18-4F13-A3EF-0FCC1180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8DD6BCF-A522-43BF-A590-2ACE70BE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7B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67B1"/>
                </a:solidFill>
                <a:latin typeface="Aptos"/>
                <a:ea typeface="Aptos"/>
                <a:cs typeface="Aptos"/>
              </a:rPr>
              <a:t>EXTERNAL EXPERIENCE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AD9F0E5-ABFF-4FF1-BDEC-01FA1775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00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23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2231"/>
                </a:solidFill>
                <a:latin typeface="Aptos Display"/>
                <a:ea typeface="Aptos Display"/>
                <a:cs typeface="Aptos Display"/>
              </a:rPr>
              <a:t>Customers get a guided, authenticated intake without seeing internal fields.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BBF31495-DF4D-45D5-AAF1-D81BDC83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81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The portal previews response expectations in real time, saves drafts, and blocks required-document bypass before submission.</a:t>
            </a:r>
          </a:p>
        </p:txBody>
      </p:sp>
      <p:sp>
        <p:nvSpPr>
          <p:cNvPr id="6" name="portal-step-details">
            <a:extLst xmlns:a="http://schemas.openxmlformats.org/drawingml/2006/main">
              <a:ext uri="{FF2B5EF4-FFF2-40B4-BE49-F238E27FC236}">
                <a16:creationId xmlns:a16="http://schemas.microsoft.com/office/drawing/2014/main" id="{FB4A1639-7AF7-4793-BA09-05783460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2438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7" name="portal-step-details-accent">
            <a:extLst xmlns:a="http://schemas.openxmlformats.org/drawingml/2006/main">
              <a:ext uri="{FF2B5EF4-FFF2-40B4-BE49-F238E27FC236}">
                <a16:creationId xmlns:a16="http://schemas.microsoft.com/office/drawing/2014/main" id="{24C9A873-C695-4191-883A-39465705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2438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portal-step-details-number">
            <a:extLst xmlns:a="http://schemas.openxmlformats.org/drawingml/2006/main">
              <a:ext uri="{FF2B5EF4-FFF2-40B4-BE49-F238E27FC236}">
                <a16:creationId xmlns:a16="http://schemas.microsoft.com/office/drawing/2014/main" id="{594F5A7E-B958-45CD-9C19-B503E063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47625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portal-step-details-title">
            <a:extLst xmlns:a="http://schemas.openxmlformats.org/drawingml/2006/main">
              <a:ext uri="{FF2B5EF4-FFF2-40B4-BE49-F238E27FC236}">
                <a16:creationId xmlns:a16="http://schemas.microsoft.com/office/drawing/2014/main" id="{6289E737-9A90-4E06-93EA-42CC6727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Details</a:t>
            </a:r>
          </a:p>
        </p:txBody>
      </p:sp>
      <p:sp>
        <p:nvSpPr>
          <p:cNvPr id="10" name="portal-step-details-note">
            <a:extLst xmlns:a="http://schemas.openxmlformats.org/drawingml/2006/main">
              <a:ext uri="{FF2B5EF4-FFF2-40B4-BE49-F238E27FC236}">
                <a16:creationId xmlns:a16="http://schemas.microsoft.com/office/drawing/2014/main" id="{375AF9A3-06AF-44D5-829B-5A141B7D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Title, category, and description are validated before the user continues.</a:t>
            </a:r>
          </a:p>
        </p:txBody>
      </p:sp>
      <p:sp>
        <p:nvSpPr>
          <p:cNvPr id="11" name="portal-step-impact">
            <a:extLst xmlns:a="http://schemas.openxmlformats.org/drawingml/2006/main">
              <a:ext uri="{FF2B5EF4-FFF2-40B4-BE49-F238E27FC236}">
                <a16:creationId xmlns:a16="http://schemas.microsoft.com/office/drawing/2014/main" id="{DA0CF1AD-3B94-40C2-9387-99B305E4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00300"/>
            <a:ext cx="2438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2" name="portal-step-impact-accent">
            <a:extLst xmlns:a="http://schemas.openxmlformats.org/drawingml/2006/main">
              <a:ext uri="{FF2B5EF4-FFF2-40B4-BE49-F238E27FC236}">
                <a16:creationId xmlns:a16="http://schemas.microsoft.com/office/drawing/2014/main" id="{C5EAA65F-2743-4B4A-8CF4-9536A0AB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00300"/>
            <a:ext cx="2438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portal-step-impact-number">
            <a:extLst xmlns:a="http://schemas.openxmlformats.org/drawingml/2006/main">
              <a:ext uri="{FF2B5EF4-FFF2-40B4-BE49-F238E27FC236}">
                <a16:creationId xmlns:a16="http://schemas.microsoft.com/office/drawing/2014/main" id="{2798E4AF-3D1F-477A-A010-651AC38C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908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47625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portal-step-impact-title">
            <a:extLst xmlns:a="http://schemas.openxmlformats.org/drawingml/2006/main">
              <a:ext uri="{FF2B5EF4-FFF2-40B4-BE49-F238E27FC236}">
                <a16:creationId xmlns:a16="http://schemas.microsoft.com/office/drawing/2014/main" id="{E73B0525-34BD-4C6C-A05E-AC69A440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717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15" name="portal-step-impact-note">
            <a:extLst xmlns:a="http://schemas.openxmlformats.org/drawingml/2006/main">
              <a:ext uri="{FF2B5EF4-FFF2-40B4-BE49-F238E27FC236}">
                <a16:creationId xmlns:a16="http://schemas.microsoft.com/office/drawing/2014/main" id="{D4C88865-2A59-4A11-99FC-E682AE17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908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Impact and urgency update the response estimate without a full page reload.</a:t>
            </a:r>
          </a:p>
        </p:txBody>
      </p:sp>
      <p:sp>
        <p:nvSpPr>
          <p:cNvPr id="16" name="portal-step-docs">
            <a:extLst xmlns:a="http://schemas.openxmlformats.org/drawingml/2006/main">
              <a:ext uri="{FF2B5EF4-FFF2-40B4-BE49-F238E27FC236}">
                <a16:creationId xmlns:a16="http://schemas.microsoft.com/office/drawing/2014/main" id="{59183327-AA31-43D0-BE24-32F6CCC5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00300"/>
            <a:ext cx="2438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7" name="portal-step-docs-accent">
            <a:extLst xmlns:a="http://schemas.openxmlformats.org/drawingml/2006/main">
              <a:ext uri="{FF2B5EF4-FFF2-40B4-BE49-F238E27FC236}">
                <a16:creationId xmlns:a16="http://schemas.microsoft.com/office/drawing/2014/main" id="{255884B7-D898-4315-9D57-DFF5054C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00300"/>
            <a:ext cx="2438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portal-step-docs-number">
            <a:extLst xmlns:a="http://schemas.openxmlformats.org/drawingml/2006/main">
              <a:ext uri="{FF2B5EF4-FFF2-40B4-BE49-F238E27FC236}">
                <a16:creationId xmlns:a16="http://schemas.microsoft.com/office/drawing/2014/main" id="{B3C6F14E-0868-4419-AEA9-F63A6213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908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47625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portal-step-docs-title">
            <a:extLst xmlns:a="http://schemas.openxmlformats.org/drawingml/2006/main">
              <a:ext uri="{FF2B5EF4-FFF2-40B4-BE49-F238E27FC236}">
                <a16:creationId xmlns:a16="http://schemas.microsoft.com/office/drawing/2014/main" id="{B6D5CC22-620F-480F-852A-40DD9D49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Documents</a:t>
            </a:r>
          </a:p>
        </p:txBody>
      </p:sp>
      <p:sp>
        <p:nvSpPr>
          <p:cNvPr id="20" name="portal-step-docs-note">
            <a:extLst xmlns:a="http://schemas.openxmlformats.org/drawingml/2006/main">
              <a:ext uri="{FF2B5EF4-FFF2-40B4-BE49-F238E27FC236}">
                <a16:creationId xmlns:a16="http://schemas.microsoft.com/office/drawing/2014/main" id="{BDC08246-51F8-48A3-8127-09928EA3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908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If the matched rule requires files, a Draft request is saved and secure upload opens inline.</a:t>
            </a:r>
          </a:p>
        </p:txBody>
      </p:sp>
      <p:sp>
        <p:nvSpPr>
          <p:cNvPr id="21" name="portal-step-review">
            <a:extLst xmlns:a="http://schemas.openxmlformats.org/drawingml/2006/main">
              <a:ext uri="{FF2B5EF4-FFF2-40B4-BE49-F238E27FC236}">
                <a16:creationId xmlns:a16="http://schemas.microsoft.com/office/drawing/2014/main" id="{5CD72BFA-22B8-40E0-AA2D-226342BE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00300"/>
            <a:ext cx="2438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2" name="portal-step-review-accent">
            <a:extLst xmlns:a="http://schemas.openxmlformats.org/drawingml/2006/main">
              <a:ext uri="{FF2B5EF4-FFF2-40B4-BE49-F238E27FC236}">
                <a16:creationId xmlns:a16="http://schemas.microsoft.com/office/drawing/2014/main" id="{70F4F009-5E32-4325-82D2-B033F87E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00300"/>
            <a:ext cx="2438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portal-step-review-number">
            <a:extLst xmlns:a="http://schemas.openxmlformats.org/drawingml/2006/main">
              <a:ext uri="{FF2B5EF4-FFF2-40B4-BE49-F238E27FC236}">
                <a16:creationId xmlns:a16="http://schemas.microsoft.com/office/drawing/2014/main" id="{27FD194B-195D-4BC4-A65E-4802EF38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908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47625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portal-step-review-title">
            <a:extLst xmlns:a="http://schemas.openxmlformats.org/drawingml/2006/main">
              <a:ext uri="{FF2B5EF4-FFF2-40B4-BE49-F238E27FC236}">
                <a16:creationId xmlns:a16="http://schemas.microsoft.com/office/drawing/2014/main" id="{F3EB61AE-660E-4A0C-9D7F-A3A6CC09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717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5" name="portal-step-review-note">
            <a:extLst xmlns:a="http://schemas.openxmlformats.org/drawingml/2006/main">
              <a:ext uri="{FF2B5EF4-FFF2-40B4-BE49-F238E27FC236}">
                <a16:creationId xmlns:a16="http://schemas.microsoft.com/office/drawing/2014/main" id="{45C75632-F916-4386-ACFD-B7B36CC3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908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The final submit button appears only after required details and files are complete.</a:t>
            </a:r>
          </a:p>
        </p:txBody>
      </p:sp>
      <p:sp>
        <p:nvSpPr>
          <p:cNvPr id="26" name="portal-preview-card">
            <a:extLst xmlns:a="http://schemas.openxmlformats.org/drawingml/2006/main">
              <a:ext uri="{FF2B5EF4-FFF2-40B4-BE49-F238E27FC236}">
                <a16:creationId xmlns:a16="http://schemas.microsoft.com/office/drawing/2014/main" id="{4280240A-543B-4C36-9DA2-337DF4C3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50673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7" name="portal-preview-title">
            <a:extLst xmlns:a="http://schemas.openxmlformats.org/drawingml/2006/main">
              <a:ext uri="{FF2B5EF4-FFF2-40B4-BE49-F238E27FC236}">
                <a16:creationId xmlns:a16="http://schemas.microsoft.com/office/drawing/2014/main" id="{DCBDCC29-BEDF-48D7-BC01-A2B0A32C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Response estimate preview</a:t>
            </a:r>
          </a:p>
        </p:txBody>
      </p:sp>
      <p:sp>
        <p:nvSpPr>
          <p:cNvPr id="28" name="portal-preview-pill">
            <a:extLst xmlns:a="http://schemas.openxmlformats.org/drawingml/2006/main">
              <a:ext uri="{FF2B5EF4-FFF2-40B4-BE49-F238E27FC236}">
                <a16:creationId xmlns:a16="http://schemas.microsoft.com/office/drawing/2014/main" id="{7BC28693-B41E-401F-98A4-11D43726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481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6DCA4"/>
            </a:solidFill>
            <a:prstDash val="solid"/>
          </a:ln>
        </p:spPr>
      </p:sp>
      <p:sp>
        <p:nvSpPr>
          <p:cNvPr id="29" name="portal-preview-pill-text">
            <a:extLst xmlns:a="http://schemas.openxmlformats.org/drawingml/2006/main">
              <a:ext uri="{FF2B5EF4-FFF2-40B4-BE49-F238E27FC236}">
                <a16:creationId xmlns:a16="http://schemas.microsoft.com/office/drawing/2014/main" id="{018A1057-E324-4E8C-8641-66BE7378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95775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76B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6B00"/>
                </a:solidFill>
                <a:latin typeface="Aptos"/>
                <a:ea typeface="Aptos"/>
                <a:cs typeface="Aptos"/>
              </a:rPr>
              <a:t>Needs review</a:t>
            </a:r>
          </a:p>
        </p:txBody>
      </p:sp>
      <p:sp>
        <p:nvSpPr>
          <p:cNvPr id="30" name="portal-team-label">
            <a:extLst xmlns:a="http://schemas.openxmlformats.org/drawingml/2006/main">
              <a:ext uri="{FF2B5EF4-FFF2-40B4-BE49-F238E27FC236}">
                <a16:creationId xmlns:a16="http://schemas.microsoft.com/office/drawing/2014/main" id="{2DD061E1-DC7B-42D7-A4FD-FC9ED306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31" name="portal-team-value">
            <a:extLst xmlns:a="http://schemas.openxmlformats.org/drawingml/2006/main">
              <a:ext uri="{FF2B5EF4-FFF2-40B4-BE49-F238E27FC236}">
                <a16:creationId xmlns:a16="http://schemas.microsoft.com/office/drawing/2014/main" id="{222F4407-E4E1-49BE-9F4F-EB93C60E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053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32" name="portal-target-label">
            <a:extLst xmlns:a="http://schemas.openxmlformats.org/drawingml/2006/main">
              <a:ext uri="{FF2B5EF4-FFF2-40B4-BE49-F238E27FC236}">
                <a16:creationId xmlns:a16="http://schemas.microsoft.com/office/drawing/2014/main" id="{D083F2DC-519E-4FD7-AD6E-A558AB95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Target response</a:t>
            </a:r>
          </a:p>
        </p:txBody>
      </p:sp>
      <p:sp>
        <p:nvSpPr>
          <p:cNvPr id="33" name="portal-target-value">
            <a:extLst xmlns:a="http://schemas.openxmlformats.org/drawingml/2006/main">
              <a:ext uri="{FF2B5EF4-FFF2-40B4-BE49-F238E27FC236}">
                <a16:creationId xmlns:a16="http://schemas.microsoft.com/office/drawing/2014/main" id="{25F11E85-E14E-4022-A47B-207C0CD9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911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4 hours</a:t>
            </a:r>
          </a:p>
        </p:txBody>
      </p:sp>
      <p:sp>
        <p:nvSpPr>
          <p:cNvPr id="34" name="portal-files-label">
            <a:extLst xmlns:a="http://schemas.openxmlformats.org/drawingml/2006/main">
              <a:ext uri="{FF2B5EF4-FFF2-40B4-BE49-F238E27FC236}">
                <a16:creationId xmlns:a16="http://schemas.microsoft.com/office/drawing/2014/main" id="{E696653B-D9A4-41F9-A108-E873BE8F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Supporting files</a:t>
            </a:r>
          </a:p>
        </p:txBody>
      </p:sp>
      <p:sp>
        <p:nvSpPr>
          <p:cNvPr id="35" name="portal-files-value">
            <a:extLst xmlns:a="http://schemas.openxmlformats.org/drawingml/2006/main">
              <a:ext uri="{FF2B5EF4-FFF2-40B4-BE49-F238E27FC236}">
                <a16:creationId xmlns:a16="http://schemas.microsoft.com/office/drawing/2014/main" id="{93EEC548-F53D-4C2F-9139-9410D447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768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Required before review</a:t>
            </a:r>
          </a:p>
        </p:txBody>
      </p:sp>
      <p:sp>
        <p:nvSpPr>
          <p:cNvPr id="36" name="portal-security">
            <a:extLst xmlns:a="http://schemas.openxmlformats.org/drawingml/2006/main">
              <a:ext uri="{FF2B5EF4-FFF2-40B4-BE49-F238E27FC236}">
                <a16:creationId xmlns:a16="http://schemas.microsoft.com/office/drawing/2014/main" id="{27B18B50-A8FE-43BF-9696-5233BB9B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38600"/>
            <a:ext cx="24003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37" name="portal-security-accent">
            <a:extLst xmlns:a="http://schemas.openxmlformats.org/drawingml/2006/main">
              <a:ext uri="{FF2B5EF4-FFF2-40B4-BE49-F238E27FC236}">
                <a16:creationId xmlns:a16="http://schemas.microsoft.com/office/drawing/2014/main" id="{A4B7C9E5-5E37-4FCA-970A-78D2E08B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38600"/>
            <a:ext cx="4762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portal-security-label">
            <a:extLst xmlns:a="http://schemas.openxmlformats.org/drawingml/2006/main">
              <a:ext uri="{FF2B5EF4-FFF2-40B4-BE49-F238E27FC236}">
                <a16:creationId xmlns:a16="http://schemas.microsoft.com/office/drawing/2014/main" id="{65C0B5C4-3EE1-459F-8FC8-85DFF199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91000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SECURITY POSTURE</a:t>
            </a:r>
          </a:p>
        </p:txBody>
      </p:sp>
      <p:sp>
        <p:nvSpPr>
          <p:cNvPr id="39" name="portal-security-value">
            <a:extLst xmlns:a="http://schemas.openxmlformats.org/drawingml/2006/main">
              <a:ext uri="{FF2B5EF4-FFF2-40B4-BE49-F238E27FC236}">
                <a16:creationId xmlns:a16="http://schemas.microsoft.com/office/drawing/2014/main" id="{13BCBE06-16BB-4E46-8002-5797C903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48175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Authenticated</a:t>
            </a:r>
          </a:p>
        </p:txBody>
      </p:sp>
      <p:sp>
        <p:nvSpPr>
          <p:cNvPr id="40" name="portal-security-note">
            <a:extLst xmlns:a="http://schemas.openxmlformats.org/drawingml/2006/main">
              <a:ext uri="{FF2B5EF4-FFF2-40B4-BE49-F238E27FC236}">
                <a16:creationId xmlns:a16="http://schemas.microsoft.com/office/drawing/2014/main" id="{5CC4B343-5435-4D1A-AE00-22AF0D5C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00600"/>
            <a:ext cx="2057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Contact-scoped access; internal notes, approval, ERP, and logs stay hidden.</a:t>
            </a:r>
          </a:p>
        </p:txBody>
      </p:sp>
      <p:sp>
        <p:nvSpPr>
          <p:cNvPr id="41" name="portal-resume">
            <a:extLst xmlns:a="http://schemas.openxmlformats.org/drawingml/2006/main">
              <a:ext uri="{FF2B5EF4-FFF2-40B4-BE49-F238E27FC236}">
                <a16:creationId xmlns:a16="http://schemas.microsoft.com/office/drawing/2014/main" id="{67F09779-6135-4317-8591-50C38FE5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38600"/>
            <a:ext cx="24003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42" name="portal-resume-accent">
            <a:extLst xmlns:a="http://schemas.openxmlformats.org/drawingml/2006/main">
              <a:ext uri="{FF2B5EF4-FFF2-40B4-BE49-F238E27FC236}">
                <a16:creationId xmlns:a16="http://schemas.microsoft.com/office/drawing/2014/main" id="{1F2F4A50-BA81-469D-8BC4-40B57615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38600"/>
            <a:ext cx="4762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portal-resume-label">
            <a:extLst xmlns:a="http://schemas.openxmlformats.org/drawingml/2006/main">
              <a:ext uri="{FF2B5EF4-FFF2-40B4-BE49-F238E27FC236}">
                <a16:creationId xmlns:a16="http://schemas.microsoft.com/office/drawing/2014/main" id="{363680E7-2013-4153-8CEC-FEB729F5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91000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RESUME PATH</a:t>
            </a:r>
          </a:p>
        </p:txBody>
      </p:sp>
      <p:sp>
        <p:nvSpPr>
          <p:cNvPr id="44" name="portal-resume-value">
            <a:extLst xmlns:a="http://schemas.openxmlformats.org/drawingml/2006/main">
              <a:ext uri="{FF2B5EF4-FFF2-40B4-BE49-F238E27FC236}">
                <a16:creationId xmlns:a16="http://schemas.microsoft.com/office/drawing/2014/main" id="{75D7FD22-3A56-4212-B1E7-577C377D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48175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My requests</a:t>
            </a:r>
          </a:p>
        </p:txBody>
      </p:sp>
      <p:sp>
        <p:nvSpPr>
          <p:cNvPr id="45" name="portal-resume-note">
            <a:extLst xmlns:a="http://schemas.openxmlformats.org/drawingml/2006/main">
              <a:ext uri="{FF2B5EF4-FFF2-40B4-BE49-F238E27FC236}">
                <a16:creationId xmlns:a16="http://schemas.microsoft.com/office/drawing/2014/main" id="{951D03AE-F68A-472E-927A-BB583130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00600"/>
            <a:ext cx="2057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Drafts can be saved and resumed without sending confirmation email.</a:t>
            </a:r>
          </a:p>
        </p:txBody>
      </p:sp>
      <p:sp>
        <p:nvSpPr>
          <p:cNvPr id="4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5447F9D-8EA8-4350-AE91-1300A1EE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05937867-3C5C-438D-870B-2854E1E7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C8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C8E"/>
                </a:solidFill>
                <a:latin typeface="Aptos"/>
                <a:ea typeface="Aptos"/>
                <a:cs typeface="Aptos"/>
              </a:rPr>
              <a:t>Enterprise Service Intake | Power Platform Senior Developer take-home | May 2026</a:t>
            </a:r>
          </a:p>
        </p:txBody>
      </p:sp>
      <p:sp>
        <p:nvSpPr>
          <p:cNvPr id="4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E0FDC53-B244-4927-94F1-AE2C2385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C8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C8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819394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01F1251-3B2F-4210-9D42-2D8F2449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E6BBC99-7DFB-4EF6-8EA1-801A2C16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1F37104-087E-4555-8ECE-53871961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7B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67B1"/>
                </a:solidFill>
                <a:latin typeface="Aptos"/>
                <a:ea typeface="Aptos"/>
                <a:cs typeface="Aptos"/>
              </a:rPr>
              <a:t>ROUTING MATRIX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5B69F85-FFEA-4B18-A830-CAAEA385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00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23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2231"/>
                </a:solidFill>
                <a:latin typeface="Aptos Display"/>
                <a:ea typeface="Aptos Display"/>
                <a:cs typeface="Aptos Display"/>
              </a:rPr>
              <a:t>Routing is exact-match and editable, not hidden threshold logic.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D1CBA1F7-42A8-460B-B514-54E00046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81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Power Pages preview, Dataverse plugin routing, and admin edits all use the same Routing / SLA Rule rows.</a:t>
            </a:r>
          </a:p>
        </p:txBody>
      </p:sp>
      <p:sp>
        <p:nvSpPr>
          <p:cNvPr id="6" name="matrix-caption">
            <a:extLst xmlns:a="http://schemas.openxmlformats.org/drawingml/2006/main">
              <a:ext uri="{FF2B5EF4-FFF2-40B4-BE49-F238E27FC236}">
                <a16:creationId xmlns:a16="http://schemas.microsoft.com/office/drawing/2014/main" id="{A662E5F4-948C-4AF3-BF2A-7D53BE82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Impact x Urgency</a:t>
            </a:r>
          </a:p>
        </p:txBody>
      </p:sp>
      <p:sp>
        <p:nvSpPr>
          <p:cNvPr id="7" name="urgency-0">
            <a:extLst xmlns:a="http://schemas.openxmlformats.org/drawingml/2006/main">
              <a:ext uri="{FF2B5EF4-FFF2-40B4-BE49-F238E27FC236}">
                <a16:creationId xmlns:a16="http://schemas.microsoft.com/office/drawing/2014/main" id="{683AB77D-57BC-4D98-B9F7-0BDF585E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050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8" name="urgency-1">
            <a:extLst xmlns:a="http://schemas.openxmlformats.org/drawingml/2006/main">
              <a:ext uri="{FF2B5EF4-FFF2-40B4-BE49-F238E27FC236}">
                <a16:creationId xmlns:a16="http://schemas.microsoft.com/office/drawing/2014/main" id="{CDEFDC7D-DDDB-4ABD-A3F8-A1895F99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050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Normal</a:t>
            </a:r>
          </a:p>
        </p:txBody>
      </p:sp>
      <p:sp>
        <p:nvSpPr>
          <p:cNvPr id="9" name="urgency-2">
            <a:extLst xmlns:a="http://schemas.openxmlformats.org/drawingml/2006/main">
              <a:ext uri="{FF2B5EF4-FFF2-40B4-BE49-F238E27FC236}">
                <a16:creationId xmlns:a16="http://schemas.microsoft.com/office/drawing/2014/main" id="{45599B38-E2BE-46F0-B561-1DBDA8BC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050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10" name="urgency-3">
            <a:extLst xmlns:a="http://schemas.openxmlformats.org/drawingml/2006/main">
              <a:ext uri="{FF2B5EF4-FFF2-40B4-BE49-F238E27FC236}">
                <a16:creationId xmlns:a16="http://schemas.microsoft.com/office/drawing/2014/main" id="{6960689C-85AC-49ED-B688-D5C764B2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050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Urgent</a:t>
            </a:r>
          </a:p>
        </p:txBody>
      </p:sp>
      <p:sp>
        <p:nvSpPr>
          <p:cNvPr id="11" name="impact-0">
            <a:extLst xmlns:a="http://schemas.openxmlformats.org/drawingml/2006/main">
              <a:ext uri="{FF2B5EF4-FFF2-40B4-BE49-F238E27FC236}">
                <a16:creationId xmlns:a16="http://schemas.microsoft.com/office/drawing/2014/main" id="{36A0C8AB-B417-4EDB-847F-F2A0C207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12" name="matrix-cell-0-0">
            <a:extLst xmlns:a="http://schemas.openxmlformats.org/drawingml/2006/main">
              <a:ext uri="{FF2B5EF4-FFF2-40B4-BE49-F238E27FC236}">
                <a16:creationId xmlns:a16="http://schemas.microsoft.com/office/drawing/2014/main" id="{1C8F8D7E-E840-48D6-9D49-F6AAFA45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09850"/>
            <a:ext cx="1162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13" name="matrix-value-0-0">
            <a:extLst xmlns:a="http://schemas.openxmlformats.org/drawingml/2006/main">
              <a:ext uri="{FF2B5EF4-FFF2-40B4-BE49-F238E27FC236}">
                <a16:creationId xmlns:a16="http://schemas.microsoft.com/office/drawing/2014/main" id="{B2EF283A-A855-4BEE-89B6-DB9BD397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432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7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7A43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14" name="matrix-review-0-0">
            <a:extLst xmlns:a="http://schemas.openxmlformats.org/drawingml/2006/main">
              <a:ext uri="{FF2B5EF4-FFF2-40B4-BE49-F238E27FC236}">
                <a16:creationId xmlns:a16="http://schemas.microsoft.com/office/drawing/2014/main" id="{8F5D1A7D-0EB3-4B97-A3FE-87483F87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0289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5" name="matrix-review-0-0-text">
            <a:extLst xmlns:a="http://schemas.openxmlformats.org/drawingml/2006/main">
              <a:ext uri="{FF2B5EF4-FFF2-40B4-BE49-F238E27FC236}">
                <a16:creationId xmlns:a16="http://schemas.microsoft.com/office/drawing/2014/main" id="{DFE59DB4-EE58-4A8D-8A00-30727757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480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16" name="matrix-docs-0-0">
            <a:extLst xmlns:a="http://schemas.openxmlformats.org/drawingml/2006/main">
              <a:ext uri="{FF2B5EF4-FFF2-40B4-BE49-F238E27FC236}">
                <a16:creationId xmlns:a16="http://schemas.microsoft.com/office/drawing/2014/main" id="{3D7B6F62-4BE2-42A7-8BB0-A48CA0B9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289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7" name="matrix-docs-0-0-text">
            <a:extLst xmlns:a="http://schemas.openxmlformats.org/drawingml/2006/main">
              <a:ext uri="{FF2B5EF4-FFF2-40B4-BE49-F238E27FC236}">
                <a16:creationId xmlns:a16="http://schemas.microsoft.com/office/drawing/2014/main" id="{EA430FDA-134B-45FF-919D-B3424BBF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0480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Opt</a:t>
            </a:r>
          </a:p>
        </p:txBody>
      </p:sp>
      <p:sp>
        <p:nvSpPr>
          <p:cNvPr id="18" name="matrix-cell-0-1">
            <a:extLst xmlns:a="http://schemas.openxmlformats.org/drawingml/2006/main">
              <a:ext uri="{FF2B5EF4-FFF2-40B4-BE49-F238E27FC236}">
                <a16:creationId xmlns:a16="http://schemas.microsoft.com/office/drawing/2014/main" id="{A84C2A8D-F549-4898-90DC-1442312D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09850"/>
            <a:ext cx="1162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19" name="matrix-value-0-1">
            <a:extLst xmlns:a="http://schemas.openxmlformats.org/drawingml/2006/main">
              <a:ext uri="{FF2B5EF4-FFF2-40B4-BE49-F238E27FC236}">
                <a16:creationId xmlns:a16="http://schemas.microsoft.com/office/drawing/2014/main" id="{B8737443-1B9D-44FF-AAF4-7A6E1C69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432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3B66"/>
                </a:solidFill>
                <a:latin typeface="Aptos"/>
                <a:ea typeface="Aptos"/>
                <a:cs typeface="Aptos"/>
              </a:rPr>
              <a:t>Standard</a:t>
            </a:r>
          </a:p>
        </p:txBody>
      </p:sp>
      <p:sp>
        <p:nvSpPr>
          <p:cNvPr id="20" name="matrix-review-0-1">
            <a:extLst xmlns:a="http://schemas.openxmlformats.org/drawingml/2006/main">
              <a:ext uri="{FF2B5EF4-FFF2-40B4-BE49-F238E27FC236}">
                <a16:creationId xmlns:a16="http://schemas.microsoft.com/office/drawing/2014/main" id="{3B39EA7B-6E17-44AE-9433-C8C36330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0289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1" name="matrix-review-0-1-text">
            <a:extLst xmlns:a="http://schemas.openxmlformats.org/drawingml/2006/main">
              <a:ext uri="{FF2B5EF4-FFF2-40B4-BE49-F238E27FC236}">
                <a16:creationId xmlns:a16="http://schemas.microsoft.com/office/drawing/2014/main" id="{65BB304A-39A6-444C-976E-57838738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480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22" name="matrix-docs-0-1">
            <a:extLst xmlns:a="http://schemas.openxmlformats.org/drawingml/2006/main">
              <a:ext uri="{FF2B5EF4-FFF2-40B4-BE49-F238E27FC236}">
                <a16:creationId xmlns:a16="http://schemas.microsoft.com/office/drawing/2014/main" id="{79C084EA-7551-4B1B-8604-BF326910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289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3" name="matrix-docs-0-1-text">
            <a:extLst xmlns:a="http://schemas.openxmlformats.org/drawingml/2006/main">
              <a:ext uri="{FF2B5EF4-FFF2-40B4-BE49-F238E27FC236}">
                <a16:creationId xmlns:a16="http://schemas.microsoft.com/office/drawing/2014/main" id="{FE7C1D58-2130-4C97-9FEE-1DC816A2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0480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Opt</a:t>
            </a:r>
          </a:p>
        </p:txBody>
      </p:sp>
      <p:sp>
        <p:nvSpPr>
          <p:cNvPr id="24" name="matrix-cell-0-2">
            <a:extLst xmlns:a="http://schemas.openxmlformats.org/drawingml/2006/main">
              <a:ext uri="{FF2B5EF4-FFF2-40B4-BE49-F238E27FC236}">
                <a16:creationId xmlns:a16="http://schemas.microsoft.com/office/drawing/2014/main" id="{7E242872-59A7-471A-A659-E03E508C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9850"/>
            <a:ext cx="1162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25" name="matrix-value-0-2">
            <a:extLst xmlns:a="http://schemas.openxmlformats.org/drawingml/2006/main">
              <a:ext uri="{FF2B5EF4-FFF2-40B4-BE49-F238E27FC236}">
                <a16:creationId xmlns:a16="http://schemas.microsoft.com/office/drawing/2014/main" id="{A6227573-5812-4BA6-9C4E-07E4AC4B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432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76B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76B00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26" name="matrix-review-0-2">
            <a:extLst xmlns:a="http://schemas.openxmlformats.org/drawingml/2006/main">
              <a:ext uri="{FF2B5EF4-FFF2-40B4-BE49-F238E27FC236}">
                <a16:creationId xmlns:a16="http://schemas.microsoft.com/office/drawing/2014/main" id="{29CE26A6-1774-4568-8BA7-9F06B56D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289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6DCA4"/>
            </a:solidFill>
            <a:prstDash val="solid"/>
          </a:ln>
        </p:spPr>
      </p:sp>
      <p:sp>
        <p:nvSpPr>
          <p:cNvPr id="27" name="matrix-review-0-2-text">
            <a:extLst xmlns:a="http://schemas.openxmlformats.org/drawingml/2006/main">
              <a:ext uri="{FF2B5EF4-FFF2-40B4-BE49-F238E27FC236}">
                <a16:creationId xmlns:a16="http://schemas.microsoft.com/office/drawing/2014/main" id="{ACE56BC7-1498-4360-B350-BC81F79D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480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B76B0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76B00"/>
                </a:solidFill>
                <a:latin typeface="Aptos"/>
                <a:ea typeface="Aptos"/>
                <a:cs typeface="Aptos"/>
              </a:rPr>
              <a:t>Rev</a:t>
            </a:r>
          </a:p>
        </p:txBody>
      </p:sp>
      <p:sp>
        <p:nvSpPr>
          <p:cNvPr id="28" name="matrix-docs-0-2">
            <a:extLst xmlns:a="http://schemas.openxmlformats.org/drawingml/2006/main">
              <a:ext uri="{FF2B5EF4-FFF2-40B4-BE49-F238E27FC236}">
                <a16:creationId xmlns:a16="http://schemas.microsoft.com/office/drawing/2014/main" id="{DF60352F-E5A1-4CAD-9672-754CED36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289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2"/>
          </a:solidFill>
          <a:ln xmlns:a="http://schemas.openxmlformats.org/drawingml/2006/main" w="9525">
            <a:solidFill>
              <a:srgbClr val="F1B7B0"/>
            </a:solidFill>
            <a:prstDash val="solid"/>
          </a:ln>
        </p:spPr>
      </p:sp>
      <p:sp>
        <p:nvSpPr>
          <p:cNvPr id="29" name="matrix-docs-0-2-text">
            <a:extLst xmlns:a="http://schemas.openxmlformats.org/drawingml/2006/main">
              <a:ext uri="{FF2B5EF4-FFF2-40B4-BE49-F238E27FC236}">
                <a16:creationId xmlns:a16="http://schemas.microsoft.com/office/drawing/2014/main" id="{04CBF63F-9A2F-44FF-91A7-10922D66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480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30" name="matrix-cell-0-3">
            <a:extLst xmlns:a="http://schemas.openxmlformats.org/drawingml/2006/main">
              <a:ext uri="{FF2B5EF4-FFF2-40B4-BE49-F238E27FC236}">
                <a16:creationId xmlns:a16="http://schemas.microsoft.com/office/drawing/2014/main" id="{CE750E6A-BE24-43A5-B771-059AF7D6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09850"/>
            <a:ext cx="1162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2"/>
          </a:solidFill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31" name="matrix-value-0-3">
            <a:extLst xmlns:a="http://schemas.openxmlformats.org/drawingml/2006/main">
              <a:ext uri="{FF2B5EF4-FFF2-40B4-BE49-F238E27FC236}">
                <a16:creationId xmlns:a16="http://schemas.microsoft.com/office/drawing/2014/main" id="{A4DAE7E5-778D-409F-8B75-6C6EA93D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Critical</a:t>
            </a:r>
          </a:p>
        </p:txBody>
      </p:sp>
      <p:sp>
        <p:nvSpPr>
          <p:cNvPr id="32" name="matrix-review-0-3">
            <a:extLst xmlns:a="http://schemas.openxmlformats.org/drawingml/2006/main">
              <a:ext uri="{FF2B5EF4-FFF2-40B4-BE49-F238E27FC236}">
                <a16:creationId xmlns:a16="http://schemas.microsoft.com/office/drawing/2014/main" id="{4180A777-62C0-469B-9AE2-CEFD4023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0289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6DCA4"/>
            </a:solidFill>
            <a:prstDash val="solid"/>
          </a:ln>
        </p:spPr>
      </p:sp>
      <p:sp>
        <p:nvSpPr>
          <p:cNvPr id="33" name="matrix-review-0-3-text">
            <a:extLst xmlns:a="http://schemas.openxmlformats.org/drawingml/2006/main">
              <a:ext uri="{FF2B5EF4-FFF2-40B4-BE49-F238E27FC236}">
                <a16:creationId xmlns:a16="http://schemas.microsoft.com/office/drawing/2014/main" id="{2D369300-3B62-4CB1-9A8F-F0BA5891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480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B76B0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76B00"/>
                </a:solidFill>
                <a:latin typeface="Aptos"/>
                <a:ea typeface="Aptos"/>
                <a:cs typeface="Aptos"/>
              </a:rPr>
              <a:t>Rev</a:t>
            </a:r>
          </a:p>
        </p:txBody>
      </p:sp>
      <p:sp>
        <p:nvSpPr>
          <p:cNvPr id="34" name="matrix-docs-0-3">
            <a:extLst xmlns:a="http://schemas.openxmlformats.org/drawingml/2006/main">
              <a:ext uri="{FF2B5EF4-FFF2-40B4-BE49-F238E27FC236}">
                <a16:creationId xmlns:a16="http://schemas.microsoft.com/office/drawing/2014/main" id="{B4DC676F-06CF-4D33-8D52-E72444CD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2"/>
          </a:solidFill>
          <a:ln xmlns:a="http://schemas.openxmlformats.org/drawingml/2006/main" w="9525">
            <a:solidFill>
              <a:srgbClr val="F1B7B0"/>
            </a:solidFill>
            <a:prstDash val="solid"/>
          </a:ln>
        </p:spPr>
      </p:sp>
      <p:sp>
        <p:nvSpPr>
          <p:cNvPr id="35" name="matrix-docs-0-3-text">
            <a:extLst xmlns:a="http://schemas.openxmlformats.org/drawingml/2006/main">
              <a:ext uri="{FF2B5EF4-FFF2-40B4-BE49-F238E27FC236}">
                <a16:creationId xmlns:a16="http://schemas.microsoft.com/office/drawing/2014/main" id="{B2699C4B-E80D-4426-AB79-F0F20C21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480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36" name="impact-1">
            <a:extLst xmlns:a="http://schemas.openxmlformats.org/drawingml/2006/main">
              <a:ext uri="{FF2B5EF4-FFF2-40B4-BE49-F238E27FC236}">
                <a16:creationId xmlns:a16="http://schemas.microsoft.com/office/drawing/2014/main" id="{DD5A5107-E5A7-4E11-BC05-54C1954F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48075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37" name="matrix-cell-1-0">
            <a:extLst xmlns:a="http://schemas.openxmlformats.org/drawingml/2006/main">
              <a:ext uri="{FF2B5EF4-FFF2-40B4-BE49-F238E27FC236}">
                <a16:creationId xmlns:a16="http://schemas.microsoft.com/office/drawing/2014/main" id="{388A467F-4A85-481F-AF41-6390BF4E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48050"/>
            <a:ext cx="1162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38" name="matrix-value-1-0">
            <a:extLst xmlns:a="http://schemas.openxmlformats.org/drawingml/2006/main">
              <a:ext uri="{FF2B5EF4-FFF2-40B4-BE49-F238E27FC236}">
                <a16:creationId xmlns:a16="http://schemas.microsoft.com/office/drawing/2014/main" id="{B6953C43-5FD0-4F00-9C4F-31473656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814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3B66"/>
                </a:solidFill>
                <a:latin typeface="Aptos"/>
                <a:ea typeface="Aptos"/>
                <a:cs typeface="Aptos"/>
              </a:rPr>
              <a:t>Standard</a:t>
            </a:r>
          </a:p>
        </p:txBody>
      </p:sp>
      <p:sp>
        <p:nvSpPr>
          <p:cNvPr id="39" name="matrix-review-1-0">
            <a:extLst xmlns:a="http://schemas.openxmlformats.org/drawingml/2006/main">
              <a:ext uri="{FF2B5EF4-FFF2-40B4-BE49-F238E27FC236}">
                <a16:creationId xmlns:a16="http://schemas.microsoft.com/office/drawing/2014/main" id="{9FE63DE3-9CF5-485A-8B33-4CAFA4C3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8671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40" name="matrix-review-1-0-text">
            <a:extLst xmlns:a="http://schemas.openxmlformats.org/drawingml/2006/main">
              <a:ext uri="{FF2B5EF4-FFF2-40B4-BE49-F238E27FC236}">
                <a16:creationId xmlns:a16="http://schemas.microsoft.com/office/drawing/2014/main" id="{D5D30108-F8F7-497B-A4A9-2D716DB6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862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41" name="matrix-docs-1-0">
            <a:extLst xmlns:a="http://schemas.openxmlformats.org/drawingml/2006/main">
              <a:ext uri="{FF2B5EF4-FFF2-40B4-BE49-F238E27FC236}">
                <a16:creationId xmlns:a16="http://schemas.microsoft.com/office/drawing/2014/main" id="{CC8345D8-DB79-41D8-8F52-5155F257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671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42" name="matrix-docs-1-0-text">
            <a:extLst xmlns:a="http://schemas.openxmlformats.org/drawingml/2006/main">
              <a:ext uri="{FF2B5EF4-FFF2-40B4-BE49-F238E27FC236}">
                <a16:creationId xmlns:a16="http://schemas.microsoft.com/office/drawing/2014/main" id="{F1A47C21-BFD3-4147-9BE5-E0D3486D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8862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Opt</a:t>
            </a:r>
          </a:p>
        </p:txBody>
      </p:sp>
      <p:sp>
        <p:nvSpPr>
          <p:cNvPr id="43" name="matrix-cell-1-1">
            <a:extLst xmlns:a="http://schemas.openxmlformats.org/drawingml/2006/main">
              <a:ext uri="{FF2B5EF4-FFF2-40B4-BE49-F238E27FC236}">
                <a16:creationId xmlns:a16="http://schemas.microsoft.com/office/drawing/2014/main" id="{D1137133-D4B0-42FE-A14C-737394CD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48050"/>
            <a:ext cx="1162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44" name="matrix-value-1-1">
            <a:extLst xmlns:a="http://schemas.openxmlformats.org/drawingml/2006/main">
              <a:ext uri="{FF2B5EF4-FFF2-40B4-BE49-F238E27FC236}">
                <a16:creationId xmlns:a16="http://schemas.microsoft.com/office/drawing/2014/main" id="{B9AC431A-F9B3-4E0D-87BE-439CE5E2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814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3B66"/>
                </a:solidFill>
                <a:latin typeface="Aptos"/>
                <a:ea typeface="Aptos"/>
                <a:cs typeface="Aptos"/>
              </a:rPr>
              <a:t>Standard</a:t>
            </a:r>
          </a:p>
        </p:txBody>
      </p:sp>
      <p:sp>
        <p:nvSpPr>
          <p:cNvPr id="45" name="matrix-review-1-1">
            <a:extLst xmlns:a="http://schemas.openxmlformats.org/drawingml/2006/main">
              <a:ext uri="{FF2B5EF4-FFF2-40B4-BE49-F238E27FC236}">
                <a16:creationId xmlns:a16="http://schemas.microsoft.com/office/drawing/2014/main" id="{D569109A-0AD5-4CF8-83CD-FB947508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671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46" name="matrix-review-1-1-text">
            <a:extLst xmlns:a="http://schemas.openxmlformats.org/drawingml/2006/main">
              <a:ext uri="{FF2B5EF4-FFF2-40B4-BE49-F238E27FC236}">
                <a16:creationId xmlns:a16="http://schemas.microsoft.com/office/drawing/2014/main" id="{9FBDE2F2-0A12-4054-A4AC-E10B8E50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862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47" name="matrix-docs-1-1">
            <a:extLst xmlns:a="http://schemas.openxmlformats.org/drawingml/2006/main">
              <a:ext uri="{FF2B5EF4-FFF2-40B4-BE49-F238E27FC236}">
                <a16:creationId xmlns:a16="http://schemas.microsoft.com/office/drawing/2014/main" id="{02B9D697-D344-4AAA-8EC9-2920301F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671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48" name="matrix-docs-1-1-text">
            <a:extLst xmlns:a="http://schemas.openxmlformats.org/drawingml/2006/main">
              <a:ext uri="{FF2B5EF4-FFF2-40B4-BE49-F238E27FC236}">
                <a16:creationId xmlns:a16="http://schemas.microsoft.com/office/drawing/2014/main" id="{28444E38-599F-478A-B5B7-FF9081DD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8862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Opt</a:t>
            </a:r>
          </a:p>
        </p:txBody>
      </p:sp>
      <p:sp>
        <p:nvSpPr>
          <p:cNvPr id="49" name="matrix-cell-1-2">
            <a:extLst xmlns:a="http://schemas.openxmlformats.org/drawingml/2006/main">
              <a:ext uri="{FF2B5EF4-FFF2-40B4-BE49-F238E27FC236}">
                <a16:creationId xmlns:a16="http://schemas.microsoft.com/office/drawing/2014/main" id="{077D3503-1DB9-4922-A171-751F7939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48050"/>
            <a:ext cx="1162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50" name="matrix-value-1-2">
            <a:extLst xmlns:a="http://schemas.openxmlformats.org/drawingml/2006/main">
              <a:ext uri="{FF2B5EF4-FFF2-40B4-BE49-F238E27FC236}">
                <a16:creationId xmlns:a16="http://schemas.microsoft.com/office/drawing/2014/main" id="{1031D5A2-6795-4BED-8072-921187A8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814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76B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76B00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51" name="matrix-review-1-2">
            <a:extLst xmlns:a="http://schemas.openxmlformats.org/drawingml/2006/main">
              <a:ext uri="{FF2B5EF4-FFF2-40B4-BE49-F238E27FC236}">
                <a16:creationId xmlns:a16="http://schemas.microsoft.com/office/drawing/2014/main" id="{77DCB861-CB3D-4534-810D-F497F371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8671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6DCA4"/>
            </a:solidFill>
            <a:prstDash val="solid"/>
          </a:ln>
        </p:spPr>
      </p:sp>
      <p:sp>
        <p:nvSpPr>
          <p:cNvPr id="52" name="matrix-review-1-2-text">
            <a:extLst xmlns:a="http://schemas.openxmlformats.org/drawingml/2006/main">
              <a:ext uri="{FF2B5EF4-FFF2-40B4-BE49-F238E27FC236}">
                <a16:creationId xmlns:a16="http://schemas.microsoft.com/office/drawing/2014/main" id="{A752A98B-BD68-40FB-B481-66060A3D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862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B76B0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76B00"/>
                </a:solidFill>
                <a:latin typeface="Aptos"/>
                <a:ea typeface="Aptos"/>
                <a:cs typeface="Aptos"/>
              </a:rPr>
              <a:t>Rev</a:t>
            </a:r>
          </a:p>
        </p:txBody>
      </p:sp>
      <p:sp>
        <p:nvSpPr>
          <p:cNvPr id="53" name="matrix-docs-1-2">
            <a:extLst xmlns:a="http://schemas.openxmlformats.org/drawingml/2006/main">
              <a:ext uri="{FF2B5EF4-FFF2-40B4-BE49-F238E27FC236}">
                <a16:creationId xmlns:a16="http://schemas.microsoft.com/office/drawing/2014/main" id="{8147E906-EF8E-43E1-A40D-C7FAFF43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671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2"/>
          </a:solidFill>
          <a:ln xmlns:a="http://schemas.openxmlformats.org/drawingml/2006/main" w="9525">
            <a:solidFill>
              <a:srgbClr val="F1B7B0"/>
            </a:solidFill>
            <a:prstDash val="solid"/>
          </a:ln>
        </p:spPr>
      </p:sp>
      <p:sp>
        <p:nvSpPr>
          <p:cNvPr id="54" name="matrix-docs-1-2-text">
            <a:extLst xmlns:a="http://schemas.openxmlformats.org/drawingml/2006/main">
              <a:ext uri="{FF2B5EF4-FFF2-40B4-BE49-F238E27FC236}">
                <a16:creationId xmlns:a16="http://schemas.microsoft.com/office/drawing/2014/main" id="{4F5A629E-1DA5-49F2-99FC-2497C2F3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8862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55" name="matrix-cell-1-3">
            <a:extLst xmlns:a="http://schemas.openxmlformats.org/drawingml/2006/main">
              <a:ext uri="{FF2B5EF4-FFF2-40B4-BE49-F238E27FC236}">
                <a16:creationId xmlns:a16="http://schemas.microsoft.com/office/drawing/2014/main" id="{818D5249-71EE-4D38-81B1-229672DD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48050"/>
            <a:ext cx="1162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2"/>
          </a:solidFill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56" name="matrix-value-1-3">
            <a:extLst xmlns:a="http://schemas.openxmlformats.org/drawingml/2006/main">
              <a:ext uri="{FF2B5EF4-FFF2-40B4-BE49-F238E27FC236}">
                <a16:creationId xmlns:a16="http://schemas.microsoft.com/office/drawing/2014/main" id="{15B17AE8-F256-40FD-A542-BE220F03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814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Critical</a:t>
            </a:r>
          </a:p>
        </p:txBody>
      </p:sp>
      <p:sp>
        <p:nvSpPr>
          <p:cNvPr id="57" name="matrix-review-1-3">
            <a:extLst xmlns:a="http://schemas.openxmlformats.org/drawingml/2006/main">
              <a:ext uri="{FF2B5EF4-FFF2-40B4-BE49-F238E27FC236}">
                <a16:creationId xmlns:a16="http://schemas.microsoft.com/office/drawing/2014/main" id="{A9136759-3F13-426E-A48A-3671CB71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671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6DCA4"/>
            </a:solidFill>
            <a:prstDash val="solid"/>
          </a:ln>
        </p:spPr>
      </p:sp>
      <p:sp>
        <p:nvSpPr>
          <p:cNvPr id="58" name="matrix-review-1-3-text">
            <a:extLst xmlns:a="http://schemas.openxmlformats.org/drawingml/2006/main">
              <a:ext uri="{FF2B5EF4-FFF2-40B4-BE49-F238E27FC236}">
                <a16:creationId xmlns:a16="http://schemas.microsoft.com/office/drawing/2014/main" id="{5817C3E2-797C-4144-9B43-1571A251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862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B76B0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76B00"/>
                </a:solidFill>
                <a:latin typeface="Aptos"/>
                <a:ea typeface="Aptos"/>
                <a:cs typeface="Aptos"/>
              </a:rPr>
              <a:t>Rev</a:t>
            </a:r>
          </a:p>
        </p:txBody>
      </p:sp>
      <p:sp>
        <p:nvSpPr>
          <p:cNvPr id="59" name="matrix-docs-1-3">
            <a:extLst xmlns:a="http://schemas.openxmlformats.org/drawingml/2006/main">
              <a:ext uri="{FF2B5EF4-FFF2-40B4-BE49-F238E27FC236}">
                <a16:creationId xmlns:a16="http://schemas.microsoft.com/office/drawing/2014/main" id="{0FF9730F-C53D-455B-B369-AC20C4BC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671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2"/>
          </a:solidFill>
          <a:ln xmlns:a="http://schemas.openxmlformats.org/drawingml/2006/main" w="9525">
            <a:solidFill>
              <a:srgbClr val="F1B7B0"/>
            </a:solidFill>
            <a:prstDash val="solid"/>
          </a:ln>
        </p:spPr>
      </p:sp>
      <p:sp>
        <p:nvSpPr>
          <p:cNvPr id="60" name="matrix-docs-1-3-text">
            <a:extLst xmlns:a="http://schemas.openxmlformats.org/drawingml/2006/main">
              <a:ext uri="{FF2B5EF4-FFF2-40B4-BE49-F238E27FC236}">
                <a16:creationId xmlns:a16="http://schemas.microsoft.com/office/drawing/2014/main" id="{C7864F70-75AF-400F-9949-04C641DE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8862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61" name="impact-2">
            <a:extLst xmlns:a="http://schemas.openxmlformats.org/drawingml/2006/main">
              <a:ext uri="{FF2B5EF4-FFF2-40B4-BE49-F238E27FC236}">
                <a16:creationId xmlns:a16="http://schemas.microsoft.com/office/drawing/2014/main" id="{A5617FE7-7CC3-41FC-AB6B-30975D1C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62" name="matrix-cell-2-0">
            <a:extLst xmlns:a="http://schemas.openxmlformats.org/drawingml/2006/main">
              <a:ext uri="{FF2B5EF4-FFF2-40B4-BE49-F238E27FC236}">
                <a16:creationId xmlns:a16="http://schemas.microsoft.com/office/drawing/2014/main" id="{C6916DB5-9E80-4AA6-9EBA-32986DAB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1162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63" name="matrix-value-2-0">
            <a:extLst xmlns:a="http://schemas.openxmlformats.org/drawingml/2006/main">
              <a:ext uri="{FF2B5EF4-FFF2-40B4-BE49-F238E27FC236}">
                <a16:creationId xmlns:a16="http://schemas.microsoft.com/office/drawing/2014/main" id="{12D1BA2C-AC6D-4E73-B219-BD843DCB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196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76B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76B00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64" name="matrix-review-2-0">
            <a:extLst xmlns:a="http://schemas.openxmlformats.org/drawingml/2006/main">
              <a:ext uri="{FF2B5EF4-FFF2-40B4-BE49-F238E27FC236}">
                <a16:creationId xmlns:a16="http://schemas.microsoft.com/office/drawing/2014/main" id="{77956859-5880-43DB-95BD-9BE6F74C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7053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6DCA4"/>
            </a:solidFill>
            <a:prstDash val="solid"/>
          </a:ln>
        </p:spPr>
      </p:sp>
      <p:sp>
        <p:nvSpPr>
          <p:cNvPr id="65" name="matrix-review-2-0-text">
            <a:extLst xmlns:a="http://schemas.openxmlformats.org/drawingml/2006/main">
              <a:ext uri="{FF2B5EF4-FFF2-40B4-BE49-F238E27FC236}">
                <a16:creationId xmlns:a16="http://schemas.microsoft.com/office/drawing/2014/main" id="{C53B9037-852D-475C-9F9D-29A41D3F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244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B76B0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76B00"/>
                </a:solidFill>
                <a:latin typeface="Aptos"/>
                <a:ea typeface="Aptos"/>
                <a:cs typeface="Aptos"/>
              </a:rPr>
              <a:t>Rev</a:t>
            </a:r>
          </a:p>
        </p:txBody>
      </p:sp>
      <p:sp>
        <p:nvSpPr>
          <p:cNvPr id="66" name="matrix-docs-2-0">
            <a:extLst xmlns:a="http://schemas.openxmlformats.org/drawingml/2006/main">
              <a:ext uri="{FF2B5EF4-FFF2-40B4-BE49-F238E27FC236}">
                <a16:creationId xmlns:a16="http://schemas.microsoft.com/office/drawing/2014/main" id="{28A790AE-9E1B-43E8-B8FB-DC707C86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053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2"/>
          </a:solidFill>
          <a:ln xmlns:a="http://schemas.openxmlformats.org/drawingml/2006/main" w="9525">
            <a:solidFill>
              <a:srgbClr val="F1B7B0"/>
            </a:solidFill>
            <a:prstDash val="solid"/>
          </a:ln>
        </p:spPr>
      </p:sp>
      <p:sp>
        <p:nvSpPr>
          <p:cNvPr id="67" name="matrix-docs-2-0-text">
            <a:extLst xmlns:a="http://schemas.openxmlformats.org/drawingml/2006/main">
              <a:ext uri="{FF2B5EF4-FFF2-40B4-BE49-F238E27FC236}">
                <a16:creationId xmlns:a16="http://schemas.microsoft.com/office/drawing/2014/main" id="{BE807DEB-77C8-4C4E-98B6-154B4362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7244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68" name="matrix-cell-2-1">
            <a:extLst xmlns:a="http://schemas.openxmlformats.org/drawingml/2006/main">
              <a:ext uri="{FF2B5EF4-FFF2-40B4-BE49-F238E27FC236}">
                <a16:creationId xmlns:a16="http://schemas.microsoft.com/office/drawing/2014/main" id="{427305F4-728F-4BE5-B771-42D89A75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86250"/>
            <a:ext cx="1162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69" name="matrix-value-2-1">
            <a:extLst xmlns:a="http://schemas.openxmlformats.org/drawingml/2006/main">
              <a:ext uri="{FF2B5EF4-FFF2-40B4-BE49-F238E27FC236}">
                <a16:creationId xmlns:a16="http://schemas.microsoft.com/office/drawing/2014/main" id="{DB67C17F-1ED3-4262-A94F-B85056A5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196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76B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76B00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70" name="matrix-review-2-1">
            <a:extLst xmlns:a="http://schemas.openxmlformats.org/drawingml/2006/main">
              <a:ext uri="{FF2B5EF4-FFF2-40B4-BE49-F238E27FC236}">
                <a16:creationId xmlns:a16="http://schemas.microsoft.com/office/drawing/2014/main" id="{56F8A25D-BEE3-43D6-8C33-D60E122D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7053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6DCA4"/>
            </a:solidFill>
            <a:prstDash val="solid"/>
          </a:ln>
        </p:spPr>
      </p:sp>
      <p:sp>
        <p:nvSpPr>
          <p:cNvPr id="71" name="matrix-review-2-1-text">
            <a:extLst xmlns:a="http://schemas.openxmlformats.org/drawingml/2006/main">
              <a:ext uri="{FF2B5EF4-FFF2-40B4-BE49-F238E27FC236}">
                <a16:creationId xmlns:a16="http://schemas.microsoft.com/office/drawing/2014/main" id="{20A8E2B9-A7B9-4366-BD48-26FE6C5A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244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B76B0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76B00"/>
                </a:solidFill>
                <a:latin typeface="Aptos"/>
                <a:ea typeface="Aptos"/>
                <a:cs typeface="Aptos"/>
              </a:rPr>
              <a:t>Rev</a:t>
            </a:r>
          </a:p>
        </p:txBody>
      </p:sp>
      <p:sp>
        <p:nvSpPr>
          <p:cNvPr id="72" name="matrix-docs-2-1">
            <a:extLst xmlns:a="http://schemas.openxmlformats.org/drawingml/2006/main">
              <a:ext uri="{FF2B5EF4-FFF2-40B4-BE49-F238E27FC236}">
                <a16:creationId xmlns:a16="http://schemas.microsoft.com/office/drawing/2014/main" id="{DB9C3BDC-B50F-466D-93CF-AE917E70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053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2"/>
          </a:solidFill>
          <a:ln xmlns:a="http://schemas.openxmlformats.org/drawingml/2006/main" w="9525">
            <a:solidFill>
              <a:srgbClr val="F1B7B0"/>
            </a:solidFill>
            <a:prstDash val="solid"/>
          </a:ln>
        </p:spPr>
      </p:sp>
      <p:sp>
        <p:nvSpPr>
          <p:cNvPr id="73" name="matrix-docs-2-1-text">
            <a:extLst xmlns:a="http://schemas.openxmlformats.org/drawingml/2006/main">
              <a:ext uri="{FF2B5EF4-FFF2-40B4-BE49-F238E27FC236}">
                <a16:creationId xmlns:a16="http://schemas.microsoft.com/office/drawing/2014/main" id="{89C39644-DCDC-4342-8DCC-F027EF88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244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74" name="matrix-cell-2-2">
            <a:extLst xmlns:a="http://schemas.openxmlformats.org/drawingml/2006/main">
              <a:ext uri="{FF2B5EF4-FFF2-40B4-BE49-F238E27FC236}">
                <a16:creationId xmlns:a16="http://schemas.microsoft.com/office/drawing/2014/main" id="{EC9DB329-8F90-4AFB-B914-AF374063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86250"/>
            <a:ext cx="1162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75" name="matrix-value-2-2">
            <a:extLst xmlns:a="http://schemas.openxmlformats.org/drawingml/2006/main">
              <a:ext uri="{FF2B5EF4-FFF2-40B4-BE49-F238E27FC236}">
                <a16:creationId xmlns:a16="http://schemas.microsoft.com/office/drawing/2014/main" id="{0432E5CF-CDDE-493C-B7D1-17F5D686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196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76B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76B00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76" name="matrix-review-2-2">
            <a:extLst xmlns:a="http://schemas.openxmlformats.org/drawingml/2006/main">
              <a:ext uri="{FF2B5EF4-FFF2-40B4-BE49-F238E27FC236}">
                <a16:creationId xmlns:a16="http://schemas.microsoft.com/office/drawing/2014/main" id="{420019EA-D177-4A41-B7EB-EE7F919F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7053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6DCA4"/>
            </a:solidFill>
            <a:prstDash val="solid"/>
          </a:ln>
        </p:spPr>
      </p:sp>
      <p:sp>
        <p:nvSpPr>
          <p:cNvPr id="77" name="matrix-review-2-2-text">
            <a:extLst xmlns:a="http://schemas.openxmlformats.org/drawingml/2006/main">
              <a:ext uri="{FF2B5EF4-FFF2-40B4-BE49-F238E27FC236}">
                <a16:creationId xmlns:a16="http://schemas.microsoft.com/office/drawing/2014/main" id="{FDC9221C-E46B-475B-8BFD-831AB954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7244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B76B0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76B00"/>
                </a:solidFill>
                <a:latin typeface="Aptos"/>
                <a:ea typeface="Aptos"/>
                <a:cs typeface="Aptos"/>
              </a:rPr>
              <a:t>Rev</a:t>
            </a:r>
          </a:p>
        </p:txBody>
      </p:sp>
      <p:sp>
        <p:nvSpPr>
          <p:cNvPr id="78" name="matrix-docs-2-2">
            <a:extLst xmlns:a="http://schemas.openxmlformats.org/drawingml/2006/main">
              <a:ext uri="{FF2B5EF4-FFF2-40B4-BE49-F238E27FC236}">
                <a16:creationId xmlns:a16="http://schemas.microsoft.com/office/drawing/2014/main" id="{FBECF778-03AD-48B8-A21C-E1E5CF83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053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2"/>
          </a:solidFill>
          <a:ln xmlns:a="http://schemas.openxmlformats.org/drawingml/2006/main" w="9525">
            <a:solidFill>
              <a:srgbClr val="F1B7B0"/>
            </a:solidFill>
            <a:prstDash val="solid"/>
          </a:ln>
        </p:spPr>
      </p:sp>
      <p:sp>
        <p:nvSpPr>
          <p:cNvPr id="79" name="matrix-docs-2-2-text">
            <a:extLst xmlns:a="http://schemas.openxmlformats.org/drawingml/2006/main">
              <a:ext uri="{FF2B5EF4-FFF2-40B4-BE49-F238E27FC236}">
                <a16:creationId xmlns:a16="http://schemas.microsoft.com/office/drawing/2014/main" id="{408F4E00-36E6-43D6-A81B-CA88B1D2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7244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80" name="matrix-cell-2-3">
            <a:extLst xmlns:a="http://schemas.openxmlformats.org/drawingml/2006/main">
              <a:ext uri="{FF2B5EF4-FFF2-40B4-BE49-F238E27FC236}">
                <a16:creationId xmlns:a16="http://schemas.microsoft.com/office/drawing/2014/main" id="{58D61137-7696-4B3A-998D-B7E91DB4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86250"/>
            <a:ext cx="1162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2"/>
          </a:solidFill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81" name="matrix-value-2-3">
            <a:extLst xmlns:a="http://schemas.openxmlformats.org/drawingml/2006/main">
              <a:ext uri="{FF2B5EF4-FFF2-40B4-BE49-F238E27FC236}">
                <a16:creationId xmlns:a16="http://schemas.microsoft.com/office/drawing/2014/main" id="{6D016DD3-82DE-4457-9E3B-32FEBC71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4196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Critical</a:t>
            </a:r>
          </a:p>
        </p:txBody>
      </p:sp>
      <p:sp>
        <p:nvSpPr>
          <p:cNvPr id="82" name="matrix-review-2-3">
            <a:extLst xmlns:a="http://schemas.openxmlformats.org/drawingml/2006/main">
              <a:ext uri="{FF2B5EF4-FFF2-40B4-BE49-F238E27FC236}">
                <a16:creationId xmlns:a16="http://schemas.microsoft.com/office/drawing/2014/main" id="{BB54024E-1441-4AD2-AA90-C17FD7B0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7053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6DCA4"/>
            </a:solidFill>
            <a:prstDash val="solid"/>
          </a:ln>
        </p:spPr>
      </p:sp>
      <p:sp>
        <p:nvSpPr>
          <p:cNvPr id="83" name="matrix-review-2-3-text">
            <a:extLst xmlns:a="http://schemas.openxmlformats.org/drawingml/2006/main">
              <a:ext uri="{FF2B5EF4-FFF2-40B4-BE49-F238E27FC236}">
                <a16:creationId xmlns:a16="http://schemas.microsoft.com/office/drawing/2014/main" id="{5CFC8809-2FD4-43FF-A100-C2C55E50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244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B76B0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76B00"/>
                </a:solidFill>
                <a:latin typeface="Aptos"/>
                <a:ea typeface="Aptos"/>
                <a:cs typeface="Aptos"/>
              </a:rPr>
              <a:t>Rev</a:t>
            </a:r>
          </a:p>
        </p:txBody>
      </p:sp>
      <p:sp>
        <p:nvSpPr>
          <p:cNvPr id="84" name="matrix-docs-2-3">
            <a:extLst xmlns:a="http://schemas.openxmlformats.org/drawingml/2006/main">
              <a:ext uri="{FF2B5EF4-FFF2-40B4-BE49-F238E27FC236}">
                <a16:creationId xmlns:a16="http://schemas.microsoft.com/office/drawing/2014/main" id="{50BB588B-5BE3-4CE6-AE79-ADDE10E3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053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2"/>
          </a:solidFill>
          <a:ln xmlns:a="http://schemas.openxmlformats.org/drawingml/2006/main" w="9525">
            <a:solidFill>
              <a:srgbClr val="F1B7B0"/>
            </a:solidFill>
            <a:prstDash val="solid"/>
          </a:ln>
        </p:spPr>
      </p:sp>
      <p:sp>
        <p:nvSpPr>
          <p:cNvPr id="85" name="matrix-docs-2-3-text">
            <a:extLst xmlns:a="http://schemas.openxmlformats.org/drawingml/2006/main">
              <a:ext uri="{FF2B5EF4-FFF2-40B4-BE49-F238E27FC236}">
                <a16:creationId xmlns:a16="http://schemas.microsoft.com/office/drawing/2014/main" id="{26A63A99-4E1C-4123-AF77-E0B9A49F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7244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86" name="impact-3">
            <a:extLst xmlns:a="http://schemas.openxmlformats.org/drawingml/2006/main">
              <a:ext uri="{FF2B5EF4-FFF2-40B4-BE49-F238E27FC236}">
                <a16:creationId xmlns:a16="http://schemas.microsoft.com/office/drawing/2014/main" id="{0FEDAEEB-76C4-40EA-A52A-7E534691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24475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Critical</a:t>
            </a:r>
          </a:p>
        </p:txBody>
      </p:sp>
      <p:sp>
        <p:nvSpPr>
          <p:cNvPr id="87" name="matrix-cell-3-0">
            <a:extLst xmlns:a="http://schemas.openxmlformats.org/drawingml/2006/main">
              <a:ext uri="{FF2B5EF4-FFF2-40B4-BE49-F238E27FC236}">
                <a16:creationId xmlns:a16="http://schemas.microsoft.com/office/drawing/2014/main" id="{ECA9BA91-CA68-407F-820C-973F7015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24450"/>
            <a:ext cx="1162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2"/>
          </a:solidFill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88" name="matrix-value-3-0">
            <a:extLst xmlns:a="http://schemas.openxmlformats.org/drawingml/2006/main">
              <a:ext uri="{FF2B5EF4-FFF2-40B4-BE49-F238E27FC236}">
                <a16:creationId xmlns:a16="http://schemas.microsoft.com/office/drawing/2014/main" id="{306AB238-7261-4D5C-AD5C-C08A5AA5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578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Critical</a:t>
            </a:r>
          </a:p>
        </p:txBody>
      </p:sp>
      <p:sp>
        <p:nvSpPr>
          <p:cNvPr id="89" name="matrix-review-3-0">
            <a:extLst xmlns:a="http://schemas.openxmlformats.org/drawingml/2006/main">
              <a:ext uri="{FF2B5EF4-FFF2-40B4-BE49-F238E27FC236}">
                <a16:creationId xmlns:a16="http://schemas.microsoft.com/office/drawing/2014/main" id="{994E736B-7E9C-48D6-AA55-3F3E4C53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5435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6DCA4"/>
            </a:solidFill>
            <a:prstDash val="solid"/>
          </a:ln>
        </p:spPr>
      </p:sp>
      <p:sp>
        <p:nvSpPr>
          <p:cNvPr id="90" name="matrix-review-3-0-text">
            <a:extLst xmlns:a="http://schemas.openxmlformats.org/drawingml/2006/main">
              <a:ext uri="{FF2B5EF4-FFF2-40B4-BE49-F238E27FC236}">
                <a16:creationId xmlns:a16="http://schemas.microsoft.com/office/drawing/2014/main" id="{80872BED-6A2B-451D-8391-3722874F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626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B76B0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76B00"/>
                </a:solidFill>
                <a:latin typeface="Aptos"/>
                <a:ea typeface="Aptos"/>
                <a:cs typeface="Aptos"/>
              </a:rPr>
              <a:t>Rev</a:t>
            </a:r>
          </a:p>
        </p:txBody>
      </p:sp>
      <p:sp>
        <p:nvSpPr>
          <p:cNvPr id="91" name="matrix-docs-3-0">
            <a:extLst xmlns:a="http://schemas.openxmlformats.org/drawingml/2006/main">
              <a:ext uri="{FF2B5EF4-FFF2-40B4-BE49-F238E27FC236}">
                <a16:creationId xmlns:a16="http://schemas.microsoft.com/office/drawing/2014/main" id="{F9851492-A93A-44E5-ADBA-F8B93072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435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2"/>
          </a:solidFill>
          <a:ln xmlns:a="http://schemas.openxmlformats.org/drawingml/2006/main" w="9525">
            <a:solidFill>
              <a:srgbClr val="F1B7B0"/>
            </a:solidFill>
            <a:prstDash val="solid"/>
          </a:ln>
        </p:spPr>
      </p:sp>
      <p:sp>
        <p:nvSpPr>
          <p:cNvPr id="92" name="matrix-docs-3-0-text">
            <a:extLst xmlns:a="http://schemas.openxmlformats.org/drawingml/2006/main">
              <a:ext uri="{FF2B5EF4-FFF2-40B4-BE49-F238E27FC236}">
                <a16:creationId xmlns:a16="http://schemas.microsoft.com/office/drawing/2014/main" id="{9D2FEFC0-FB81-4BEB-A5B1-38BEA2ED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5626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93" name="matrix-cell-3-1">
            <a:extLst xmlns:a="http://schemas.openxmlformats.org/drawingml/2006/main">
              <a:ext uri="{FF2B5EF4-FFF2-40B4-BE49-F238E27FC236}">
                <a16:creationId xmlns:a16="http://schemas.microsoft.com/office/drawing/2014/main" id="{F7626F10-EC64-478C-B5DE-A3462C4F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24450"/>
            <a:ext cx="1162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2"/>
          </a:solidFill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94" name="matrix-value-3-1">
            <a:extLst xmlns:a="http://schemas.openxmlformats.org/drawingml/2006/main">
              <a:ext uri="{FF2B5EF4-FFF2-40B4-BE49-F238E27FC236}">
                <a16:creationId xmlns:a16="http://schemas.microsoft.com/office/drawing/2014/main" id="{C074FA32-C359-4FEF-A419-F2750802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578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Critical</a:t>
            </a:r>
          </a:p>
        </p:txBody>
      </p:sp>
      <p:sp>
        <p:nvSpPr>
          <p:cNvPr id="95" name="matrix-review-3-1">
            <a:extLst xmlns:a="http://schemas.openxmlformats.org/drawingml/2006/main">
              <a:ext uri="{FF2B5EF4-FFF2-40B4-BE49-F238E27FC236}">
                <a16:creationId xmlns:a16="http://schemas.microsoft.com/office/drawing/2014/main" id="{78A44FA8-2A55-4A0A-BF1B-6ACDAA98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5435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6DCA4"/>
            </a:solidFill>
            <a:prstDash val="solid"/>
          </a:ln>
        </p:spPr>
      </p:sp>
      <p:sp>
        <p:nvSpPr>
          <p:cNvPr id="96" name="matrix-review-3-1-text">
            <a:extLst xmlns:a="http://schemas.openxmlformats.org/drawingml/2006/main">
              <a:ext uri="{FF2B5EF4-FFF2-40B4-BE49-F238E27FC236}">
                <a16:creationId xmlns:a16="http://schemas.microsoft.com/office/drawing/2014/main" id="{BBF4951D-A116-4C3D-A192-17E7B567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5626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B76B0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76B00"/>
                </a:solidFill>
                <a:latin typeface="Aptos"/>
                <a:ea typeface="Aptos"/>
                <a:cs typeface="Aptos"/>
              </a:rPr>
              <a:t>Rev</a:t>
            </a:r>
          </a:p>
        </p:txBody>
      </p:sp>
      <p:sp>
        <p:nvSpPr>
          <p:cNvPr id="97" name="matrix-docs-3-1">
            <a:extLst xmlns:a="http://schemas.openxmlformats.org/drawingml/2006/main">
              <a:ext uri="{FF2B5EF4-FFF2-40B4-BE49-F238E27FC236}">
                <a16:creationId xmlns:a16="http://schemas.microsoft.com/office/drawing/2014/main" id="{6D46D9E5-C20F-41C8-B24D-BB67341C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5435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2"/>
          </a:solidFill>
          <a:ln xmlns:a="http://schemas.openxmlformats.org/drawingml/2006/main" w="9525">
            <a:solidFill>
              <a:srgbClr val="F1B7B0"/>
            </a:solidFill>
            <a:prstDash val="solid"/>
          </a:ln>
        </p:spPr>
      </p:sp>
      <p:sp>
        <p:nvSpPr>
          <p:cNvPr id="98" name="matrix-docs-3-1-text">
            <a:extLst xmlns:a="http://schemas.openxmlformats.org/drawingml/2006/main">
              <a:ext uri="{FF2B5EF4-FFF2-40B4-BE49-F238E27FC236}">
                <a16:creationId xmlns:a16="http://schemas.microsoft.com/office/drawing/2014/main" id="{F7D02942-65A4-4070-A632-12DBC441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5626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99" name="matrix-cell-3-2">
            <a:extLst xmlns:a="http://schemas.openxmlformats.org/drawingml/2006/main">
              <a:ext uri="{FF2B5EF4-FFF2-40B4-BE49-F238E27FC236}">
                <a16:creationId xmlns:a16="http://schemas.microsoft.com/office/drawing/2014/main" id="{DA7A00F7-586D-4AA1-B11E-EC66E0CC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24450"/>
            <a:ext cx="1162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2"/>
          </a:solidFill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100" name="matrix-value-3-2">
            <a:extLst xmlns:a="http://schemas.openxmlformats.org/drawingml/2006/main">
              <a:ext uri="{FF2B5EF4-FFF2-40B4-BE49-F238E27FC236}">
                <a16:creationId xmlns:a16="http://schemas.microsoft.com/office/drawing/2014/main" id="{7A07BABF-00BD-42EE-AA63-C399FF8B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2578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Critical</a:t>
            </a:r>
          </a:p>
        </p:txBody>
      </p:sp>
      <p:sp>
        <p:nvSpPr>
          <p:cNvPr id="101" name="matrix-review-3-2">
            <a:extLst xmlns:a="http://schemas.openxmlformats.org/drawingml/2006/main">
              <a:ext uri="{FF2B5EF4-FFF2-40B4-BE49-F238E27FC236}">
                <a16:creationId xmlns:a16="http://schemas.microsoft.com/office/drawing/2014/main" id="{31B92A0E-373F-4861-A863-84E5A52D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5435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6DCA4"/>
            </a:solidFill>
            <a:prstDash val="solid"/>
          </a:ln>
        </p:spPr>
      </p:sp>
      <p:sp>
        <p:nvSpPr>
          <p:cNvPr id="102" name="matrix-review-3-2-text">
            <a:extLst xmlns:a="http://schemas.openxmlformats.org/drawingml/2006/main">
              <a:ext uri="{FF2B5EF4-FFF2-40B4-BE49-F238E27FC236}">
                <a16:creationId xmlns:a16="http://schemas.microsoft.com/office/drawing/2014/main" id="{071DC653-3F48-48C9-8354-1F4BA9E6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5626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B76B0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76B00"/>
                </a:solidFill>
                <a:latin typeface="Aptos"/>
                <a:ea typeface="Aptos"/>
                <a:cs typeface="Aptos"/>
              </a:rPr>
              <a:t>Rev</a:t>
            </a:r>
          </a:p>
        </p:txBody>
      </p:sp>
      <p:sp>
        <p:nvSpPr>
          <p:cNvPr id="103" name="matrix-docs-3-2">
            <a:extLst xmlns:a="http://schemas.openxmlformats.org/drawingml/2006/main">
              <a:ext uri="{FF2B5EF4-FFF2-40B4-BE49-F238E27FC236}">
                <a16:creationId xmlns:a16="http://schemas.microsoft.com/office/drawing/2014/main" id="{24CB0369-D9AD-43B3-BB05-664BF862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435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2"/>
          </a:solidFill>
          <a:ln xmlns:a="http://schemas.openxmlformats.org/drawingml/2006/main" w="9525">
            <a:solidFill>
              <a:srgbClr val="F1B7B0"/>
            </a:solidFill>
            <a:prstDash val="solid"/>
          </a:ln>
        </p:spPr>
      </p:sp>
      <p:sp>
        <p:nvSpPr>
          <p:cNvPr id="104" name="matrix-docs-3-2-text">
            <a:extLst xmlns:a="http://schemas.openxmlformats.org/drawingml/2006/main">
              <a:ext uri="{FF2B5EF4-FFF2-40B4-BE49-F238E27FC236}">
                <a16:creationId xmlns:a16="http://schemas.microsoft.com/office/drawing/2014/main" id="{830871C6-E4BF-4E67-87CD-8842E644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626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105" name="matrix-cell-3-3">
            <a:extLst xmlns:a="http://schemas.openxmlformats.org/drawingml/2006/main">
              <a:ext uri="{FF2B5EF4-FFF2-40B4-BE49-F238E27FC236}">
                <a16:creationId xmlns:a16="http://schemas.microsoft.com/office/drawing/2014/main" id="{E937E130-CB68-44A5-AC90-FF3B0704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24450"/>
            <a:ext cx="1162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2"/>
          </a:solidFill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106" name="matrix-value-3-3">
            <a:extLst xmlns:a="http://schemas.openxmlformats.org/drawingml/2006/main">
              <a:ext uri="{FF2B5EF4-FFF2-40B4-BE49-F238E27FC236}">
                <a16:creationId xmlns:a16="http://schemas.microsoft.com/office/drawing/2014/main" id="{55DCD320-3086-4BD1-BF85-94833A46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2578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Critical</a:t>
            </a:r>
          </a:p>
        </p:txBody>
      </p:sp>
      <p:sp>
        <p:nvSpPr>
          <p:cNvPr id="107" name="matrix-review-3-3">
            <a:extLst xmlns:a="http://schemas.openxmlformats.org/drawingml/2006/main">
              <a:ext uri="{FF2B5EF4-FFF2-40B4-BE49-F238E27FC236}">
                <a16:creationId xmlns:a16="http://schemas.microsoft.com/office/drawing/2014/main" id="{FFC3FAD1-A2AB-4348-9EF8-D0C8D7DA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5435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6DCA4"/>
            </a:solidFill>
            <a:prstDash val="solid"/>
          </a:ln>
        </p:spPr>
      </p:sp>
      <p:sp>
        <p:nvSpPr>
          <p:cNvPr id="108" name="matrix-review-3-3-text">
            <a:extLst xmlns:a="http://schemas.openxmlformats.org/drawingml/2006/main">
              <a:ext uri="{FF2B5EF4-FFF2-40B4-BE49-F238E27FC236}">
                <a16:creationId xmlns:a16="http://schemas.microsoft.com/office/drawing/2014/main" id="{9F203321-C7C7-4485-983D-B6CBB9FA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5626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B76B0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76B00"/>
                </a:solidFill>
                <a:latin typeface="Aptos"/>
                <a:ea typeface="Aptos"/>
                <a:cs typeface="Aptos"/>
              </a:rPr>
              <a:t>Rev</a:t>
            </a:r>
          </a:p>
        </p:txBody>
      </p:sp>
      <p:sp>
        <p:nvSpPr>
          <p:cNvPr id="109" name="matrix-docs-3-3">
            <a:extLst xmlns:a="http://schemas.openxmlformats.org/drawingml/2006/main">
              <a:ext uri="{FF2B5EF4-FFF2-40B4-BE49-F238E27FC236}">
                <a16:creationId xmlns:a16="http://schemas.microsoft.com/office/drawing/2014/main" id="{BC8225AD-06A0-4806-A5BB-20F1075F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435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2"/>
          </a:solidFill>
          <a:ln xmlns:a="http://schemas.openxmlformats.org/drawingml/2006/main" w="9525">
            <a:solidFill>
              <a:srgbClr val="F1B7B0"/>
            </a:solidFill>
            <a:prstDash val="solid"/>
          </a:ln>
        </p:spPr>
      </p:sp>
      <p:sp>
        <p:nvSpPr>
          <p:cNvPr id="110" name="matrix-docs-3-3-text">
            <a:extLst xmlns:a="http://schemas.openxmlformats.org/drawingml/2006/main">
              <a:ext uri="{FF2B5EF4-FFF2-40B4-BE49-F238E27FC236}">
                <a16:creationId xmlns:a16="http://schemas.microsoft.com/office/drawing/2014/main" id="{E88C30A9-540F-45C9-A0B3-228C3C4F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5626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Docs</a:t>
            </a:r>
          </a:p>
        </p:txBody>
      </p:sp>
      <p:sp>
        <p:nvSpPr>
          <p:cNvPr id="111" name="routing-count">
            <a:extLst xmlns:a="http://schemas.openxmlformats.org/drawingml/2006/main">
              <a:ext uri="{FF2B5EF4-FFF2-40B4-BE49-F238E27FC236}">
                <a16:creationId xmlns:a16="http://schemas.microsoft.com/office/drawing/2014/main" id="{7E9C5D27-0F11-4EDB-9E3B-BC25CD35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43150"/>
            <a:ext cx="3543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2" name="routing-count-accent">
            <a:extLst xmlns:a="http://schemas.openxmlformats.org/drawingml/2006/main">
              <a:ext uri="{FF2B5EF4-FFF2-40B4-BE49-F238E27FC236}">
                <a16:creationId xmlns:a16="http://schemas.microsoft.com/office/drawing/2014/main" id="{66C1586F-601C-42EF-A8A3-41A0324B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431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routing-count-label">
            <a:extLst xmlns:a="http://schemas.openxmlformats.org/drawingml/2006/main">
              <a:ext uri="{FF2B5EF4-FFF2-40B4-BE49-F238E27FC236}">
                <a16:creationId xmlns:a16="http://schemas.microsoft.com/office/drawing/2014/main" id="{71FF3F2A-0780-4366-8120-3397DEA1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95550"/>
            <a:ext cx="320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RULE VOLUME</a:t>
            </a:r>
          </a:p>
        </p:txBody>
      </p:sp>
      <p:sp>
        <p:nvSpPr>
          <p:cNvPr id="114" name="routing-count-value">
            <a:extLst xmlns:a="http://schemas.openxmlformats.org/drawingml/2006/main">
              <a:ext uri="{FF2B5EF4-FFF2-40B4-BE49-F238E27FC236}">
                <a16:creationId xmlns:a16="http://schemas.microsoft.com/office/drawing/2014/main" id="{3529232B-8F24-47F9-99CB-5F1C92F8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52725"/>
            <a:ext cx="320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80 active rows</a:t>
            </a:r>
          </a:p>
        </p:txBody>
      </p:sp>
      <p:sp>
        <p:nvSpPr>
          <p:cNvPr id="115" name="routing-count-note">
            <a:extLst xmlns:a="http://schemas.openxmlformats.org/drawingml/2006/main">
              <a:ext uri="{FF2B5EF4-FFF2-40B4-BE49-F238E27FC236}">
                <a16:creationId xmlns:a16="http://schemas.microsoft.com/office/drawing/2014/main" id="{780E7A59-3BF5-4483-8871-BEFE83D8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05150"/>
            <a:ext cx="3200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Five categories by impact and urgency, plus fallback.</a:t>
            </a:r>
          </a:p>
        </p:txBody>
      </p:sp>
      <p:sp>
        <p:nvSpPr>
          <p:cNvPr id="116" name="routing-admin">
            <a:extLst xmlns:a="http://schemas.openxmlformats.org/drawingml/2006/main">
              <a:ext uri="{FF2B5EF4-FFF2-40B4-BE49-F238E27FC236}">
                <a16:creationId xmlns:a16="http://schemas.microsoft.com/office/drawing/2014/main" id="{6A14DA6A-9F2D-4751-AA9D-2B10DD69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76650"/>
            <a:ext cx="3543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7" name="routing-admin-accent">
            <a:extLst xmlns:a="http://schemas.openxmlformats.org/drawingml/2006/main">
              <a:ext uri="{FF2B5EF4-FFF2-40B4-BE49-F238E27FC236}">
                <a16:creationId xmlns:a16="http://schemas.microsoft.com/office/drawing/2014/main" id="{CF4C7D38-DF29-4B55-A387-CB0CF4CC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766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routing-admin-label">
            <a:extLst xmlns:a="http://schemas.openxmlformats.org/drawingml/2006/main">
              <a:ext uri="{FF2B5EF4-FFF2-40B4-BE49-F238E27FC236}">
                <a16:creationId xmlns:a16="http://schemas.microsoft.com/office/drawing/2014/main" id="{FBAB8179-D396-4CFE-B500-E8E03889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29050"/>
            <a:ext cx="320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ADMIN UX</a:t>
            </a:r>
          </a:p>
        </p:txBody>
      </p:sp>
      <p:sp>
        <p:nvSpPr>
          <p:cNvPr id="119" name="routing-admin-value">
            <a:extLst xmlns:a="http://schemas.openxmlformats.org/drawingml/2006/main">
              <a:ext uri="{FF2B5EF4-FFF2-40B4-BE49-F238E27FC236}">
                <a16:creationId xmlns:a16="http://schemas.microsoft.com/office/drawing/2014/main" id="{2F910DB0-6F0A-4F64-8AB5-1208754C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86225"/>
            <a:ext cx="320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Editable matrix</a:t>
            </a:r>
          </a:p>
        </p:txBody>
      </p:sp>
      <p:sp>
        <p:nvSpPr>
          <p:cNvPr id="120" name="routing-admin-note">
            <a:extLst xmlns:a="http://schemas.openxmlformats.org/drawingml/2006/main">
              <a:ext uri="{FF2B5EF4-FFF2-40B4-BE49-F238E27FC236}">
                <a16:creationId xmlns:a16="http://schemas.microsoft.com/office/drawing/2014/main" id="{3113BD96-1C9D-4661-83A6-505113A3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38650"/>
            <a:ext cx="3200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Category tabs, inline edits, toggles, and source-record links.</a:t>
            </a:r>
          </a:p>
        </p:txBody>
      </p:sp>
      <p:sp>
        <p:nvSpPr>
          <p:cNvPr id="121" name="routing-consistency">
            <a:extLst xmlns:a="http://schemas.openxmlformats.org/drawingml/2006/main">
              <a:ext uri="{FF2B5EF4-FFF2-40B4-BE49-F238E27FC236}">
                <a16:creationId xmlns:a16="http://schemas.microsoft.com/office/drawing/2014/main" id="{771F848F-3674-48B0-8753-FD04EF67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10150"/>
            <a:ext cx="3543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22" name="routing-consistency-accent">
            <a:extLst xmlns:a="http://schemas.openxmlformats.org/drawingml/2006/main">
              <a:ext uri="{FF2B5EF4-FFF2-40B4-BE49-F238E27FC236}">
                <a16:creationId xmlns:a16="http://schemas.microsoft.com/office/drawing/2014/main" id="{AC313471-25D4-4EBF-9816-634DEB50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101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routing-consistency-label">
            <a:extLst xmlns:a="http://schemas.openxmlformats.org/drawingml/2006/main">
              <a:ext uri="{FF2B5EF4-FFF2-40B4-BE49-F238E27FC236}">
                <a16:creationId xmlns:a16="http://schemas.microsoft.com/office/drawing/2014/main" id="{7C01C7B6-BC5F-458D-B8CD-A5BB1DEF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62550"/>
            <a:ext cx="320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CONSISTENCY</a:t>
            </a:r>
          </a:p>
        </p:txBody>
      </p:sp>
      <p:sp>
        <p:nvSpPr>
          <p:cNvPr id="124" name="routing-consistency-value">
            <a:extLst xmlns:a="http://schemas.openxmlformats.org/drawingml/2006/main">
              <a:ext uri="{FF2B5EF4-FFF2-40B4-BE49-F238E27FC236}">
                <a16:creationId xmlns:a16="http://schemas.microsoft.com/office/drawing/2014/main" id="{F077EFFE-2DA8-4EDE-A207-73FBE819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9725"/>
            <a:ext cx="320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One rule source</a:t>
            </a:r>
          </a:p>
        </p:txBody>
      </p:sp>
      <p:sp>
        <p:nvSpPr>
          <p:cNvPr id="125" name="routing-consistency-note">
            <a:extLst xmlns:a="http://schemas.openxmlformats.org/drawingml/2006/main">
              <a:ext uri="{FF2B5EF4-FFF2-40B4-BE49-F238E27FC236}">
                <a16:creationId xmlns:a16="http://schemas.microsoft.com/office/drawing/2014/main" id="{9A81B7B8-9DF9-40C1-A339-E07ADDCA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772150"/>
            <a:ext cx="3200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Portal preview and plugin both read active Dataverse rows.</a:t>
            </a:r>
          </a:p>
        </p:txBody>
      </p:sp>
      <p:sp>
        <p:nvSpPr>
          <p:cNvPr id="1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C804B30-7053-4E94-AABB-BE26A669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EE142D4F-30C0-4187-9BD6-42F58D8C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C8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C8E"/>
                </a:solidFill>
                <a:latin typeface="Aptos"/>
                <a:ea typeface="Aptos"/>
                <a:cs typeface="Aptos"/>
              </a:rPr>
              <a:t>Enterprise Service Intake | Power Platform Senior Developer take-home | May 2026</a:t>
            </a:r>
          </a:p>
        </p:txBody>
      </p:sp>
      <p:sp>
        <p:nvSpPr>
          <p:cNvPr id="12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2DA4937-EDDE-4A13-9E63-ECCAD6E5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C8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C8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8224160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25374EC-2081-409F-859A-62B40276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5DC235F-2BF7-4411-A382-C65FAA78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D6795AB-1EE2-4095-B0C6-8B9816E2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7B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67B1"/>
                </a:solidFill>
                <a:latin typeface="Aptos"/>
                <a:ea typeface="Aptos"/>
                <a:cs typeface="Aptos"/>
              </a:rPr>
              <a:t>INTERNAL OPERATIONS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8C6F93BA-EF47-434C-AE5F-B0DCE37B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00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23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2231"/>
                </a:solidFill>
                <a:latin typeface="Aptos Display"/>
                <a:ea typeface="Aptos Display"/>
                <a:cs typeface="Aptos Display"/>
              </a:rPr>
              <a:t>Coordinators work from task-focused navigation, not raw tables.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2AC04938-0D84-46FF-8C49-D2D61812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81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The app was redesigned around intake work, configuration, and monitoring so reviewers can follow the operational flow quickly.</a:t>
            </a:r>
          </a:p>
        </p:txBody>
      </p:sp>
      <p:sp>
        <p:nvSpPr>
          <p:cNvPr id="6" name="app-intake">
            <a:extLst xmlns:a="http://schemas.openxmlformats.org/drawingml/2006/main">
              <a:ext uri="{FF2B5EF4-FFF2-40B4-BE49-F238E27FC236}">
                <a16:creationId xmlns:a16="http://schemas.microsoft.com/office/drawing/2014/main" id="{55DF8BF3-3F4E-47B5-BF0C-B62514F1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7" name="app-intake-accent">
            <a:extLst xmlns:a="http://schemas.openxmlformats.org/drawingml/2006/main">
              <a:ext uri="{FF2B5EF4-FFF2-40B4-BE49-F238E27FC236}">
                <a16:creationId xmlns:a16="http://schemas.microsoft.com/office/drawing/2014/main" id="{17BF8FF9-0A42-43D0-9134-1CC7D41C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app-intake-label">
            <a:extLst xmlns:a="http://schemas.openxmlformats.org/drawingml/2006/main">
              <a:ext uri="{FF2B5EF4-FFF2-40B4-BE49-F238E27FC236}">
                <a16:creationId xmlns:a16="http://schemas.microsoft.com/office/drawing/2014/main" id="{93D1893B-C91E-41E2-A96E-196C3E76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80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INTAKE WORK</a:t>
            </a:r>
          </a:p>
        </p:txBody>
      </p:sp>
      <p:sp>
        <p:nvSpPr>
          <p:cNvPr id="9" name="app-intake-value">
            <a:extLst xmlns:a="http://schemas.openxmlformats.org/drawingml/2006/main">
              <a:ext uri="{FF2B5EF4-FFF2-40B4-BE49-F238E27FC236}">
                <a16:creationId xmlns:a16="http://schemas.microsoft.com/office/drawing/2014/main" id="{40002D77-CC22-4A44-A62B-7CC233A4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Requests + Evidence</a:t>
            </a:r>
          </a:p>
        </p:txBody>
      </p:sp>
      <p:sp>
        <p:nvSpPr>
          <p:cNvPr id="10" name="app-intake-note">
            <a:extLst xmlns:a="http://schemas.openxmlformats.org/drawingml/2006/main">
              <a:ext uri="{FF2B5EF4-FFF2-40B4-BE49-F238E27FC236}">
                <a16:creationId xmlns:a16="http://schemas.microsoft.com/office/drawing/2014/main" id="{86D06C4B-63E6-484A-A09E-B5624CCF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80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Active queue, approvals, documentation guardrails, SharePoint files, and Evidence Reviews.</a:t>
            </a:r>
          </a:p>
        </p:txBody>
      </p:sp>
      <p:sp>
        <p:nvSpPr>
          <p:cNvPr id="11" name="app-routing">
            <a:extLst xmlns:a="http://schemas.openxmlformats.org/drawingml/2006/main">
              <a:ext uri="{FF2B5EF4-FFF2-40B4-BE49-F238E27FC236}">
                <a16:creationId xmlns:a16="http://schemas.microsoft.com/office/drawing/2014/main" id="{EDE66B7B-55A7-41A2-BD08-B9F248C2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05050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2" name="app-routing-accent">
            <a:extLst xmlns:a="http://schemas.openxmlformats.org/drawingml/2006/main">
              <a:ext uri="{FF2B5EF4-FFF2-40B4-BE49-F238E27FC236}">
                <a16:creationId xmlns:a16="http://schemas.microsoft.com/office/drawing/2014/main" id="{6D20DB5D-8CB9-44A3-A0DB-EF557938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0505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app-routing-label">
            <a:extLst xmlns:a="http://schemas.openxmlformats.org/drawingml/2006/main">
              <a:ext uri="{FF2B5EF4-FFF2-40B4-BE49-F238E27FC236}">
                <a16:creationId xmlns:a16="http://schemas.microsoft.com/office/drawing/2014/main" id="{94602736-3B84-4195-9FA1-AE5772AD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57450"/>
            <a:ext cx="280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ROUTING CONFIGURATION</a:t>
            </a:r>
          </a:p>
        </p:txBody>
      </p:sp>
      <p:sp>
        <p:nvSpPr>
          <p:cNvPr id="14" name="app-routing-value">
            <a:extLst xmlns:a="http://schemas.openxmlformats.org/drawingml/2006/main">
              <a:ext uri="{FF2B5EF4-FFF2-40B4-BE49-F238E27FC236}">
                <a16:creationId xmlns:a16="http://schemas.microsoft.com/office/drawing/2014/main" id="{F4F71609-FADB-4CA0-ADBF-48A1367D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14625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Matrix-first admin</a:t>
            </a:r>
          </a:p>
        </p:txBody>
      </p:sp>
      <p:sp>
        <p:nvSpPr>
          <p:cNvPr id="15" name="app-routing-note">
            <a:extLst xmlns:a="http://schemas.openxmlformats.org/drawingml/2006/main">
              <a:ext uri="{FF2B5EF4-FFF2-40B4-BE49-F238E27FC236}">
                <a16:creationId xmlns:a16="http://schemas.microsoft.com/office/drawing/2014/main" id="{EE0843A0-1C28-40D4-B3BC-B603028A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67050"/>
            <a:ext cx="280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Editable matrix replaces normal 80-row maintenance and opens source rule records.</a:t>
            </a:r>
          </a:p>
        </p:txBody>
      </p:sp>
      <p:sp>
        <p:nvSpPr>
          <p:cNvPr id="16" name="app-monitoring">
            <a:extLst xmlns:a="http://schemas.openxmlformats.org/drawingml/2006/main">
              <a:ext uri="{FF2B5EF4-FFF2-40B4-BE49-F238E27FC236}">
                <a16:creationId xmlns:a16="http://schemas.microsoft.com/office/drawing/2014/main" id="{67D8A357-12C2-4336-A0B5-D3167CF1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05050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7" name="app-monitoring-accent">
            <a:extLst xmlns:a="http://schemas.openxmlformats.org/drawingml/2006/main">
              <a:ext uri="{FF2B5EF4-FFF2-40B4-BE49-F238E27FC236}">
                <a16:creationId xmlns:a16="http://schemas.microsoft.com/office/drawing/2014/main" id="{B885BA0D-4345-405D-A3B9-3F2C1F5F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0505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app-monitoring-label">
            <a:extLst xmlns:a="http://schemas.openxmlformats.org/drawingml/2006/main">
              <a:ext uri="{FF2B5EF4-FFF2-40B4-BE49-F238E27FC236}">
                <a16:creationId xmlns:a16="http://schemas.microsoft.com/office/drawing/2014/main" id="{65EEB83E-0149-483E-BA50-DC8E67A0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57450"/>
            <a:ext cx="280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MONITORING</a:t>
            </a:r>
          </a:p>
        </p:txBody>
      </p:sp>
      <p:sp>
        <p:nvSpPr>
          <p:cNvPr id="19" name="app-monitoring-value">
            <a:extLst xmlns:a="http://schemas.openxmlformats.org/drawingml/2006/main">
              <a:ext uri="{FF2B5EF4-FFF2-40B4-BE49-F238E27FC236}">
                <a16:creationId xmlns:a16="http://schemas.microsoft.com/office/drawing/2014/main" id="{D87C1312-9B2C-4729-A467-4A9A868B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14625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Logs + dashboards</a:t>
            </a:r>
          </a:p>
        </p:txBody>
      </p:sp>
      <p:sp>
        <p:nvSpPr>
          <p:cNvPr id="20" name="app-monitoring-note">
            <a:extLst xmlns:a="http://schemas.openxmlformats.org/drawingml/2006/main">
              <a:ext uri="{FF2B5EF4-FFF2-40B4-BE49-F238E27FC236}">
                <a16:creationId xmlns:a16="http://schemas.microsoft.com/office/drawing/2014/main" id="{979DDED9-C485-4D46-8607-233E2186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67050"/>
            <a:ext cx="280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System Error Logs, External Sync Logs, and three purpose-built dashboards.</a:t>
            </a:r>
          </a:p>
        </p:txBody>
      </p:sp>
      <p:sp>
        <p:nvSpPr>
          <p:cNvPr id="21" name="form-model-card">
            <a:extLst xmlns:a="http://schemas.openxmlformats.org/drawingml/2006/main">
              <a:ext uri="{FF2B5EF4-FFF2-40B4-BE49-F238E27FC236}">
                <a16:creationId xmlns:a16="http://schemas.microsoft.com/office/drawing/2014/main" id="{351C8A0F-5B75-45E1-9EE0-CBAEFC3A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4953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2" name="form-card-title">
            <a:extLst xmlns:a="http://schemas.openxmlformats.org/drawingml/2006/main">
              <a:ext uri="{FF2B5EF4-FFF2-40B4-BE49-F238E27FC236}">
                <a16:creationId xmlns:a16="http://schemas.microsoft.com/office/drawing/2014/main" id="{6ABFB8D2-992F-4914-AE61-BF9B1B26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Service Request form</a:t>
            </a:r>
          </a:p>
        </p:txBody>
      </p:sp>
      <p:sp>
        <p:nvSpPr>
          <p:cNvPr id="23" name="form-bullets-0-dot">
            <a:extLst xmlns:a="http://schemas.openxmlformats.org/drawingml/2006/main">
              <a:ext uri="{FF2B5EF4-FFF2-40B4-BE49-F238E27FC236}">
                <a16:creationId xmlns:a16="http://schemas.microsoft.com/office/drawing/2014/main" id="{E917725A-6167-4A6D-9A00-F44AB16B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339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form-bullets-0-text">
            <a:extLst xmlns:a="http://schemas.openxmlformats.org/drawingml/2006/main">
              <a:ext uri="{FF2B5EF4-FFF2-40B4-BE49-F238E27FC236}">
                <a16:creationId xmlns:a16="http://schemas.microsoft.com/office/drawing/2014/main" id="{D0C36ED6-23BE-4D32-8D45-16E6F376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411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62231"/>
                </a:solidFill>
                <a:latin typeface="Aptos"/>
                <a:ea typeface="Aptos"/>
                <a:cs typeface="Aptos"/>
              </a:rPr>
              <a:t>Two-column sections for request, triage, routing/SLA, approval, and resolution.</a:t>
            </a:r>
          </a:p>
        </p:txBody>
      </p:sp>
      <p:sp>
        <p:nvSpPr>
          <p:cNvPr id="25" name="form-bullets-1-dot">
            <a:extLst xmlns:a="http://schemas.openxmlformats.org/drawingml/2006/main">
              <a:ext uri="{FF2B5EF4-FFF2-40B4-BE49-F238E27FC236}">
                <a16:creationId xmlns:a16="http://schemas.microsoft.com/office/drawing/2014/main" id="{27E828E0-A5A5-47E9-A332-17B53730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9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form-bullets-1-text">
            <a:extLst xmlns:a="http://schemas.openxmlformats.org/drawingml/2006/main">
              <a:ext uri="{FF2B5EF4-FFF2-40B4-BE49-F238E27FC236}">
                <a16:creationId xmlns:a16="http://schemas.microsoft.com/office/drawing/2014/main" id="{23AE9115-06FA-4585-8B42-698B7FE6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33950"/>
            <a:ext cx="411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62231"/>
                </a:solidFill>
                <a:latin typeface="Aptos"/>
                <a:ea typeface="Aptos"/>
                <a:cs typeface="Aptos"/>
              </a:rPr>
              <a:t>SharePoint Documents tab shows the actual uploaded files.</a:t>
            </a:r>
          </a:p>
        </p:txBody>
      </p:sp>
      <p:sp>
        <p:nvSpPr>
          <p:cNvPr id="27" name="form-bullets-2-dot">
            <a:extLst xmlns:a="http://schemas.openxmlformats.org/drawingml/2006/main">
              <a:ext uri="{FF2B5EF4-FFF2-40B4-BE49-F238E27FC236}">
                <a16:creationId xmlns:a16="http://schemas.microsoft.com/office/drawing/2014/main" id="{F9C99C52-1020-47B1-BE93-74A5CF4F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05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form-bullets-2-text">
            <a:extLst xmlns:a="http://schemas.openxmlformats.org/drawingml/2006/main">
              <a:ext uri="{FF2B5EF4-FFF2-40B4-BE49-F238E27FC236}">
                <a16:creationId xmlns:a16="http://schemas.microsoft.com/office/drawing/2014/main" id="{BFD9E088-F8EA-4809-87BE-E04F51B7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19700"/>
            <a:ext cx="411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62231"/>
                </a:solidFill>
                <a:latin typeface="Aptos"/>
                <a:ea typeface="Aptos"/>
                <a:cs typeface="Aptos"/>
              </a:rPr>
              <a:t>SR Evidence Reviews records accepted/rejected evidence metadata and file links.</a:t>
            </a:r>
          </a:p>
        </p:txBody>
      </p:sp>
      <p:sp>
        <p:nvSpPr>
          <p:cNvPr id="29" name="view-model-card">
            <a:extLst xmlns:a="http://schemas.openxmlformats.org/drawingml/2006/main">
              <a:ext uri="{FF2B5EF4-FFF2-40B4-BE49-F238E27FC236}">
                <a16:creationId xmlns:a16="http://schemas.microsoft.com/office/drawing/2014/main" id="{98B1523D-927F-4602-B597-946D9F42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38600"/>
            <a:ext cx="4953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30" name="views-card-title">
            <a:extLst xmlns:a="http://schemas.openxmlformats.org/drawingml/2006/main">
              <a:ext uri="{FF2B5EF4-FFF2-40B4-BE49-F238E27FC236}">
                <a16:creationId xmlns:a16="http://schemas.microsoft.com/office/drawing/2014/main" id="{5D85D83A-5223-4A2D-A2DE-C5004F4F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481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Views and PCF signal</a:t>
            </a:r>
          </a:p>
        </p:txBody>
      </p:sp>
      <p:sp>
        <p:nvSpPr>
          <p:cNvPr id="31" name="view-bullets-0-dot">
            <a:extLst xmlns:a="http://schemas.openxmlformats.org/drawingml/2006/main">
              <a:ext uri="{FF2B5EF4-FFF2-40B4-BE49-F238E27FC236}">
                <a16:creationId xmlns:a16="http://schemas.microsoft.com/office/drawing/2014/main" id="{4745BF46-3458-4BF1-9A9E-4B4A9608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339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view-bullets-0-text">
            <a:extLst xmlns:a="http://schemas.openxmlformats.org/drawingml/2006/main">
              <a:ext uri="{FF2B5EF4-FFF2-40B4-BE49-F238E27FC236}">
                <a16:creationId xmlns:a16="http://schemas.microsoft.com/office/drawing/2014/main" id="{1021FCDB-BFF5-4AE0-838B-9D71BDB7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48200"/>
            <a:ext cx="407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62231"/>
                </a:solidFill>
                <a:latin typeface="Aptos"/>
                <a:ea typeface="Aptos"/>
                <a:cs typeface="Aptos"/>
              </a:rPr>
              <a:t>Active Service Requests includes confirmation, customer, category, status, department, SLA, approval, and ERP sync.</a:t>
            </a:r>
          </a:p>
        </p:txBody>
      </p:sp>
      <p:sp>
        <p:nvSpPr>
          <p:cNvPr id="33" name="view-bullets-1-dot">
            <a:extLst xmlns:a="http://schemas.openxmlformats.org/drawingml/2006/main">
              <a:ext uri="{FF2B5EF4-FFF2-40B4-BE49-F238E27FC236}">
                <a16:creationId xmlns:a16="http://schemas.microsoft.com/office/drawing/2014/main" id="{1A2E0D40-063A-4FFE-A3BC-F67D11EB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19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view-bullets-1-text">
            <a:extLst xmlns:a="http://schemas.openxmlformats.org/drawingml/2006/main">
              <a:ext uri="{FF2B5EF4-FFF2-40B4-BE49-F238E27FC236}">
                <a16:creationId xmlns:a16="http://schemas.microsoft.com/office/drawing/2014/main" id="{52AAE16F-F707-4210-AADE-1FCE6AF3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33950"/>
            <a:ext cx="407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62231"/>
                </a:solidFill>
                <a:latin typeface="Aptos"/>
                <a:ea typeface="Aptos"/>
                <a:cs typeface="Aptos"/>
              </a:rPr>
              <a:t>SLA/status PCF gives coordinators a compact visual severity and risk signal.</a:t>
            </a:r>
          </a:p>
        </p:txBody>
      </p:sp>
      <p:sp>
        <p:nvSpPr>
          <p:cNvPr id="35" name="view-bullets-2-dot">
            <a:extLst xmlns:a="http://schemas.openxmlformats.org/drawingml/2006/main">
              <a:ext uri="{FF2B5EF4-FFF2-40B4-BE49-F238E27FC236}">
                <a16:creationId xmlns:a16="http://schemas.microsoft.com/office/drawing/2014/main" id="{B5853DC6-549D-44B8-AF89-4D648B00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05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view-bullets-2-text">
            <a:extLst xmlns:a="http://schemas.openxmlformats.org/drawingml/2006/main">
              <a:ext uri="{FF2B5EF4-FFF2-40B4-BE49-F238E27FC236}">
                <a16:creationId xmlns:a16="http://schemas.microsoft.com/office/drawing/2014/main" id="{90D2603F-D592-45DB-8C5C-9009CA5C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219700"/>
            <a:ext cx="407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62231"/>
                </a:solidFill>
                <a:latin typeface="Aptos"/>
                <a:ea typeface="Aptos"/>
                <a:cs typeface="Aptos"/>
              </a:rPr>
              <a:t>Deprecated document view names were cleaned up to Evidence Review terminology.</a:t>
            </a:r>
          </a:p>
        </p:txBody>
      </p:sp>
      <p:sp>
        <p:nvSpPr>
          <p:cNvPr id="3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45B67DF-A5A9-495E-A466-71ABD973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5BB67154-92F8-4FAE-979A-9726ADDE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C8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C8E"/>
                </a:solidFill>
                <a:latin typeface="Aptos"/>
                <a:ea typeface="Aptos"/>
                <a:cs typeface="Aptos"/>
              </a:rPr>
              <a:t>Enterprise Service Intake | Power Platform Senior Developer take-home | May 2026</a:t>
            </a:r>
          </a:p>
        </p:txBody>
      </p:sp>
      <p:sp>
        <p:nvSpPr>
          <p:cNvPr id="3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F8DBC70-9ADB-4FE0-A051-459B6983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C8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C8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9388765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978DB06-D960-418F-87EB-F766D749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48FAED9-04F2-46BB-BCC3-AC2BFB9B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05C4904-A87E-449A-B029-93026F40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7B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67B1"/>
                </a:solidFill>
                <a:latin typeface="Aptos"/>
                <a:ea typeface="Aptos"/>
                <a:cs typeface="Aptos"/>
              </a:rPr>
              <a:t>AUTOMATION AND INTEGRATION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EF9AADE-4012-4C6E-A843-8AB9A3E6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00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23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2231"/>
                </a:solidFill>
                <a:latin typeface="Aptos Display"/>
                <a:ea typeface="Aptos Display"/>
                <a:cs typeface="Aptos Display"/>
              </a:rPr>
              <a:t>Approval and ERP sync use Flow where human workflow and run history matter.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44004495-D8E9-4529-9B1F-4F872DCE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81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The integration path is intentionally resilient: Try/Catch scopes, approval records, OAuth token request, protected REST call, writeback, and custom error logs.</a:t>
            </a:r>
          </a:p>
        </p:txBody>
      </p:sp>
      <p:sp>
        <p:nvSpPr>
          <p:cNvPr id="6" name="flow-trigger">
            <a:extLst xmlns:a="http://schemas.openxmlformats.org/drawingml/2006/main">
              <a:ext uri="{FF2B5EF4-FFF2-40B4-BE49-F238E27FC236}">
                <a16:creationId xmlns:a16="http://schemas.microsoft.com/office/drawing/2014/main" id="{67101AFA-4234-48F7-9D0A-95F78A02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638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7" name="flow-trigger-accent">
            <a:extLst xmlns:a="http://schemas.openxmlformats.org/drawingml/2006/main">
              <a:ext uri="{FF2B5EF4-FFF2-40B4-BE49-F238E27FC236}">
                <a16:creationId xmlns:a16="http://schemas.microsoft.com/office/drawing/2014/main" id="{1FE35168-2BDC-4090-8096-60854FD6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638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low-trigger-title">
            <a:extLst xmlns:a="http://schemas.openxmlformats.org/drawingml/2006/main">
              <a:ext uri="{FF2B5EF4-FFF2-40B4-BE49-F238E27FC236}">
                <a16:creationId xmlns:a16="http://schemas.microsoft.com/office/drawing/2014/main" id="{D509DFCD-EC42-46B2-9E2A-9889D083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860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Dataverse trigger</a:t>
            </a:r>
          </a:p>
        </p:txBody>
      </p:sp>
      <p:sp>
        <p:nvSpPr>
          <p:cNvPr id="9" name="flow-trigger-note">
            <a:extLst xmlns:a="http://schemas.openxmlformats.org/drawingml/2006/main">
              <a:ext uri="{FF2B5EF4-FFF2-40B4-BE49-F238E27FC236}">
                <a16:creationId xmlns:a16="http://schemas.microsoft.com/office/drawing/2014/main" id="{667CE2B9-79CD-48FD-927D-80141C64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9085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Approval-required, pending, unsynced request.</a:t>
            </a:r>
          </a:p>
        </p:txBody>
      </p:sp>
      <p:sp>
        <p:nvSpPr>
          <p:cNvPr id="10" name="flow-approval">
            <a:extLst xmlns:a="http://schemas.openxmlformats.org/drawingml/2006/main">
              <a:ext uri="{FF2B5EF4-FFF2-40B4-BE49-F238E27FC236}">
                <a16:creationId xmlns:a16="http://schemas.microsoft.com/office/drawing/2014/main" id="{6D926785-64EF-4FDA-840C-D71C67AB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33650"/>
            <a:ext cx="1638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flow-approval-accent">
            <a:extLst xmlns:a="http://schemas.openxmlformats.org/drawingml/2006/main">
              <a:ext uri="{FF2B5EF4-FFF2-40B4-BE49-F238E27FC236}">
                <a16:creationId xmlns:a16="http://schemas.microsoft.com/office/drawing/2014/main" id="{67E5B22A-E787-4E46-990A-5F152DB7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33650"/>
            <a:ext cx="1638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flow-approval-title">
            <a:extLst xmlns:a="http://schemas.openxmlformats.org/drawingml/2006/main">
              <a:ext uri="{FF2B5EF4-FFF2-40B4-BE49-F238E27FC236}">
                <a16:creationId xmlns:a16="http://schemas.microsoft.com/office/drawing/2014/main" id="{105607D3-54FF-425C-9E52-2FBD8CA6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6860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Manager approval</a:t>
            </a:r>
          </a:p>
        </p:txBody>
      </p:sp>
      <p:sp>
        <p:nvSpPr>
          <p:cNvPr id="13" name="flow-approval-note">
            <a:extLst xmlns:a="http://schemas.openxmlformats.org/drawingml/2006/main">
              <a:ext uri="{FF2B5EF4-FFF2-40B4-BE49-F238E27FC236}">
                <a16:creationId xmlns:a16="http://schemas.microsoft.com/office/drawing/2014/main" id="{BD86367F-4CF3-4AED-9865-8866E590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99085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Approval history is reviewer evidence.</a:t>
            </a:r>
          </a:p>
        </p:txBody>
      </p:sp>
      <p:sp>
        <p:nvSpPr>
          <p:cNvPr id="14" name="flow-token">
            <a:extLst xmlns:a="http://schemas.openxmlformats.org/drawingml/2006/main">
              <a:ext uri="{FF2B5EF4-FFF2-40B4-BE49-F238E27FC236}">
                <a16:creationId xmlns:a16="http://schemas.microsoft.com/office/drawing/2014/main" id="{2B7D9AA2-0F1E-44AC-BD25-04D5258E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33650"/>
            <a:ext cx="1638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5" name="flow-token-accent">
            <a:extLst xmlns:a="http://schemas.openxmlformats.org/drawingml/2006/main">
              <a:ext uri="{FF2B5EF4-FFF2-40B4-BE49-F238E27FC236}">
                <a16:creationId xmlns:a16="http://schemas.microsoft.com/office/drawing/2014/main" id="{C6C8D6D7-B2DB-496E-B024-BD2E60EB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33650"/>
            <a:ext cx="1638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flow-token-title">
            <a:extLst xmlns:a="http://schemas.openxmlformats.org/drawingml/2006/main">
              <a:ext uri="{FF2B5EF4-FFF2-40B4-BE49-F238E27FC236}">
                <a16:creationId xmlns:a16="http://schemas.microsoft.com/office/drawing/2014/main" id="{545FD324-5814-4FC2-846A-A58D4085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6860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OAuth token</a:t>
            </a:r>
          </a:p>
        </p:txBody>
      </p:sp>
      <p:sp>
        <p:nvSpPr>
          <p:cNvPr id="17" name="flow-token-note">
            <a:extLst xmlns:a="http://schemas.openxmlformats.org/drawingml/2006/main">
              <a:ext uri="{FF2B5EF4-FFF2-40B4-BE49-F238E27FC236}">
                <a16:creationId xmlns:a16="http://schemas.microsoft.com/office/drawing/2014/main" id="{B59F8260-FD5F-491B-A054-F3227D5C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99085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Client-credentials token from HelloX.</a:t>
            </a:r>
          </a:p>
        </p:txBody>
      </p:sp>
      <p:sp>
        <p:nvSpPr>
          <p:cNvPr id="18" name="flow-post">
            <a:extLst xmlns:a="http://schemas.openxmlformats.org/drawingml/2006/main">
              <a:ext uri="{FF2B5EF4-FFF2-40B4-BE49-F238E27FC236}">
                <a16:creationId xmlns:a16="http://schemas.microsoft.com/office/drawing/2014/main" id="{14CB4665-1D44-4B80-B8C0-6DA4BF78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33650"/>
            <a:ext cx="1638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9" name="flow-post-accent">
            <a:extLst xmlns:a="http://schemas.openxmlformats.org/drawingml/2006/main">
              <a:ext uri="{FF2B5EF4-FFF2-40B4-BE49-F238E27FC236}">
                <a16:creationId xmlns:a16="http://schemas.microsoft.com/office/drawing/2014/main" id="{67F7411E-8F42-49B6-882A-864F2B2B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33650"/>
            <a:ext cx="1638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flow-post-title">
            <a:extLst xmlns:a="http://schemas.openxmlformats.org/drawingml/2006/main">
              <a:ext uri="{FF2B5EF4-FFF2-40B4-BE49-F238E27FC236}">
                <a16:creationId xmlns:a16="http://schemas.microsoft.com/office/drawing/2014/main" id="{5289198C-0F09-4740-9FA1-90A77874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860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REST POST</a:t>
            </a:r>
          </a:p>
        </p:txBody>
      </p:sp>
      <p:sp>
        <p:nvSpPr>
          <p:cNvPr id="21" name="flow-post-note">
            <a:extLst xmlns:a="http://schemas.openxmlformats.org/drawingml/2006/main">
              <a:ext uri="{FF2B5EF4-FFF2-40B4-BE49-F238E27FC236}">
                <a16:creationId xmlns:a16="http://schemas.microsoft.com/office/drawing/2014/main" id="{848398C7-AD66-48A8-A660-B215D100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9085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Bearer-token POST returns external ID.</a:t>
            </a:r>
          </a:p>
        </p:txBody>
      </p:sp>
      <p:sp>
        <p:nvSpPr>
          <p:cNvPr id="22" name="flow-writeback">
            <a:extLst xmlns:a="http://schemas.openxmlformats.org/drawingml/2006/main">
              <a:ext uri="{FF2B5EF4-FFF2-40B4-BE49-F238E27FC236}">
                <a16:creationId xmlns:a16="http://schemas.microsoft.com/office/drawing/2014/main" id="{7FE3D97E-4A0B-4C5F-B60B-E93E46C0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33650"/>
            <a:ext cx="1638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3" name="flow-writeback-accent">
            <a:extLst xmlns:a="http://schemas.openxmlformats.org/drawingml/2006/main">
              <a:ext uri="{FF2B5EF4-FFF2-40B4-BE49-F238E27FC236}">
                <a16:creationId xmlns:a16="http://schemas.microsoft.com/office/drawing/2014/main" id="{1E07665E-0CD4-4DF4-9076-C63071E5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33650"/>
            <a:ext cx="1638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flow-writeback-title">
            <a:extLst xmlns:a="http://schemas.openxmlformats.org/drawingml/2006/main">
              <a:ext uri="{FF2B5EF4-FFF2-40B4-BE49-F238E27FC236}">
                <a16:creationId xmlns:a16="http://schemas.microsoft.com/office/drawing/2014/main" id="{77C160A8-508D-42A8-8B6E-0E6CC68E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6860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Dataverse writeback</a:t>
            </a:r>
          </a:p>
        </p:txBody>
      </p:sp>
      <p:sp>
        <p:nvSpPr>
          <p:cNvPr id="25" name="flow-writeback-note">
            <a:extLst xmlns:a="http://schemas.openxmlformats.org/drawingml/2006/main">
              <a:ext uri="{FF2B5EF4-FFF2-40B4-BE49-F238E27FC236}">
                <a16:creationId xmlns:a16="http://schemas.microsoft.com/office/drawing/2014/main" id="{72A04295-BD11-4A83-A525-8929C498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99085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Approval, lifecycle, ERP status, ID, and sync log.</a:t>
            </a:r>
          </a:p>
        </p:txBody>
      </p:sp>
      <p:sp>
        <p:nvSpPr>
          <p:cNvPr id="26" name="flow-c1">
            <a:extLst xmlns:a="http://schemas.openxmlformats.org/drawingml/2006/main">
              <a:ext uri="{FF2B5EF4-FFF2-40B4-BE49-F238E27FC236}">
                <a16:creationId xmlns:a16="http://schemas.microsoft.com/office/drawing/2014/main" id="{77AC75D0-15BD-49EF-8112-F02C39A1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718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flow-c1-arrow">
            <a:extLst xmlns:a="http://schemas.openxmlformats.org/drawingml/2006/main">
              <a:ext uri="{FF2B5EF4-FFF2-40B4-BE49-F238E27FC236}">
                <a16:creationId xmlns:a16="http://schemas.microsoft.com/office/drawing/2014/main" id="{4180EAF9-44EE-42F5-BD7F-37B95195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86075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7B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67B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flow-c2">
            <a:extLst xmlns:a="http://schemas.openxmlformats.org/drawingml/2006/main">
              <a:ext uri="{FF2B5EF4-FFF2-40B4-BE49-F238E27FC236}">
                <a16:creationId xmlns:a16="http://schemas.microsoft.com/office/drawing/2014/main" id="{2E13C44B-EDC1-48F4-977B-33995688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718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flow-c2-arrow">
            <a:extLst xmlns:a="http://schemas.openxmlformats.org/drawingml/2006/main">
              <a:ext uri="{FF2B5EF4-FFF2-40B4-BE49-F238E27FC236}">
                <a16:creationId xmlns:a16="http://schemas.microsoft.com/office/drawing/2014/main" id="{2C09F5CC-D983-4ADB-B295-2BDC3F1B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86075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7B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67B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flow-c3">
            <a:extLst xmlns:a="http://schemas.openxmlformats.org/drawingml/2006/main">
              <a:ext uri="{FF2B5EF4-FFF2-40B4-BE49-F238E27FC236}">
                <a16:creationId xmlns:a16="http://schemas.microsoft.com/office/drawing/2014/main" id="{F31D7828-45FC-4ECA-8557-9104608D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flow-c3-arrow">
            <a:extLst xmlns:a="http://schemas.openxmlformats.org/drawingml/2006/main">
              <a:ext uri="{FF2B5EF4-FFF2-40B4-BE49-F238E27FC236}">
                <a16:creationId xmlns:a16="http://schemas.microsoft.com/office/drawing/2014/main" id="{680EED3E-7CA3-42B0-8AC5-ECB851AF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86075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7B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67B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2" name="flow-c4">
            <a:extLst xmlns:a="http://schemas.openxmlformats.org/drawingml/2006/main">
              <a:ext uri="{FF2B5EF4-FFF2-40B4-BE49-F238E27FC236}">
                <a16:creationId xmlns:a16="http://schemas.microsoft.com/office/drawing/2014/main" id="{419E3562-88B2-424E-8826-550FE765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718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flow-c4-arrow">
            <a:extLst xmlns:a="http://schemas.openxmlformats.org/drawingml/2006/main">
              <a:ext uri="{FF2B5EF4-FFF2-40B4-BE49-F238E27FC236}">
                <a16:creationId xmlns:a16="http://schemas.microsoft.com/office/drawing/2014/main" id="{76273F32-1906-4B61-9065-DD97DEAA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86075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7B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67B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" name="catch-band">
            <a:extLst xmlns:a="http://schemas.openxmlformats.org/drawingml/2006/main">
              <a:ext uri="{FF2B5EF4-FFF2-40B4-BE49-F238E27FC236}">
                <a16:creationId xmlns:a16="http://schemas.microsoft.com/office/drawing/2014/main" id="{FD736E23-D5ED-4344-80D2-1699865D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52900"/>
            <a:ext cx="7924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2"/>
          </a:solidFill>
          <a:ln xmlns:a="http://schemas.openxmlformats.org/drawingml/2006/main" w="9525">
            <a:solidFill>
              <a:srgbClr val="F1B7B0"/>
            </a:solidFill>
            <a:prstDash val="solid"/>
          </a:ln>
        </p:spPr>
      </p:sp>
      <p:sp>
        <p:nvSpPr>
          <p:cNvPr id="35" name="catch-title">
            <a:extLst xmlns:a="http://schemas.openxmlformats.org/drawingml/2006/main">
              <a:ext uri="{FF2B5EF4-FFF2-40B4-BE49-F238E27FC236}">
                <a16:creationId xmlns:a16="http://schemas.microsoft.com/office/drawing/2014/main" id="{E746E551-0A12-4172-8154-5373BC20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434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Catch - log automation error</a:t>
            </a:r>
          </a:p>
        </p:txBody>
      </p:sp>
      <p:sp>
        <p:nvSpPr>
          <p:cNvPr id="36" name="catch-note">
            <a:extLst xmlns:a="http://schemas.openxmlformats.org/drawingml/2006/main">
              <a:ext uri="{FF2B5EF4-FFF2-40B4-BE49-F238E27FC236}">
                <a16:creationId xmlns:a16="http://schemas.microsoft.com/office/drawing/2014/main" id="{BC303F02-0246-43E7-9BBF-5F75C0E2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48200"/>
            <a:ext cx="7067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62231"/>
                </a:solidFill>
                <a:latin typeface="Aptos"/>
                <a:ea typeface="Aptos"/>
                <a:cs typeface="Aptos"/>
              </a:rPr>
              <a:t>Failures in approval, token, HTTP, or writeback create a System Error Log with correlation/run detail and mark the request sync/approval state as failed.</a:t>
            </a:r>
          </a:p>
        </p:txBody>
      </p:sp>
      <p:sp>
        <p:nvSpPr>
          <p:cNvPr id="37" name="flow-catch-c">
            <a:extLst xmlns:a="http://schemas.openxmlformats.org/drawingml/2006/main">
              <a:ext uri="{FF2B5EF4-FFF2-40B4-BE49-F238E27FC236}">
                <a16:creationId xmlns:a16="http://schemas.microsoft.com/office/drawing/2014/main" id="{E42E92D1-92D6-4474-B984-994B985D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19475"/>
            <a:ext cx="97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flow-catch-c-arrow">
            <a:extLst xmlns:a="http://schemas.openxmlformats.org/drawingml/2006/main">
              <a:ext uri="{FF2B5EF4-FFF2-40B4-BE49-F238E27FC236}">
                <a16:creationId xmlns:a16="http://schemas.microsoft.com/office/drawing/2014/main" id="{B7FD9DAC-4831-4732-A49B-A93C4060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3375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9" name="why-flow-card">
            <a:extLst xmlns:a="http://schemas.openxmlformats.org/drawingml/2006/main">
              <a:ext uri="{FF2B5EF4-FFF2-40B4-BE49-F238E27FC236}">
                <a16:creationId xmlns:a16="http://schemas.microsoft.com/office/drawing/2014/main" id="{DCC23ED3-0058-4DE6-84FD-02F9D12A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40" name="why-flow-card-accent">
            <a:extLst xmlns:a="http://schemas.openxmlformats.org/drawingml/2006/main">
              <a:ext uri="{FF2B5EF4-FFF2-40B4-BE49-F238E27FC236}">
                <a16:creationId xmlns:a16="http://schemas.microsoft.com/office/drawing/2014/main" id="{16613915-D6CC-4040-893B-80D71B84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why-flow-card-label">
            <a:extLst xmlns:a="http://schemas.openxmlformats.org/drawingml/2006/main">
              <a:ext uri="{FF2B5EF4-FFF2-40B4-BE49-F238E27FC236}">
                <a16:creationId xmlns:a16="http://schemas.microsoft.com/office/drawing/2014/main" id="{9AADD58F-E26A-4E17-81CC-ACC6817D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461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WHY FLOW HERE</a:t>
            </a:r>
          </a:p>
        </p:txBody>
      </p:sp>
      <p:sp>
        <p:nvSpPr>
          <p:cNvPr id="42" name="why-flow-card-value">
            <a:extLst xmlns:a="http://schemas.openxmlformats.org/drawingml/2006/main">
              <a:ext uri="{FF2B5EF4-FFF2-40B4-BE49-F238E27FC236}">
                <a16:creationId xmlns:a16="http://schemas.microsoft.com/office/drawing/2014/main" id="{81799F7C-941B-41FF-B41B-3A42B1C8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67375"/>
            <a:ext cx="4610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Human approvals, connector run histories, retries, and evidence are first-class.</a:t>
            </a:r>
          </a:p>
        </p:txBody>
      </p:sp>
      <p:sp>
        <p:nvSpPr>
          <p:cNvPr id="43" name="mock-erp-card">
            <a:extLst xmlns:a="http://schemas.openxmlformats.org/drawingml/2006/main">
              <a:ext uri="{FF2B5EF4-FFF2-40B4-BE49-F238E27FC236}">
                <a16:creationId xmlns:a16="http://schemas.microsoft.com/office/drawing/2014/main" id="{8A0C32B0-1CE0-4DA6-BB2B-FE7DBB38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25780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44" name="mock-erp-card-accent">
            <a:extLst xmlns:a="http://schemas.openxmlformats.org/drawingml/2006/main">
              <a:ext uri="{FF2B5EF4-FFF2-40B4-BE49-F238E27FC236}">
                <a16:creationId xmlns:a16="http://schemas.microsoft.com/office/drawing/2014/main" id="{0FD98DE7-716C-46F3-95CD-8B8F780F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2578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mock-erp-card-label">
            <a:extLst xmlns:a="http://schemas.openxmlformats.org/drawingml/2006/main">
              <a:ext uri="{FF2B5EF4-FFF2-40B4-BE49-F238E27FC236}">
                <a16:creationId xmlns:a16="http://schemas.microsoft.com/office/drawing/2014/main" id="{179C8E30-EBBB-44F9-B142-BFAC62AB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410200"/>
            <a:ext cx="461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MOCK ERP CHOICE</a:t>
            </a:r>
          </a:p>
        </p:txBody>
      </p:sp>
      <p:sp>
        <p:nvSpPr>
          <p:cNvPr id="46" name="mock-erp-card-value">
            <a:extLst xmlns:a="http://schemas.openxmlformats.org/drawingml/2006/main">
              <a:ext uri="{FF2B5EF4-FFF2-40B4-BE49-F238E27FC236}">
                <a16:creationId xmlns:a16="http://schemas.microsoft.com/office/drawing/2014/main" id="{EEFC514F-2F11-4778-BA3A-AB80EAA6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667375"/>
            <a:ext cx="4610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HelloX endpoint supports OAuth, deterministic IDs, and deliberate failure mode.</a:t>
            </a:r>
          </a:p>
        </p:txBody>
      </p:sp>
      <p:sp>
        <p:nvSpPr>
          <p:cNvPr id="4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1B24F44-8F91-46C5-8933-B8CCEBF2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5AE15543-997C-4798-90A8-56AEB94A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C8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C8E"/>
                </a:solidFill>
                <a:latin typeface="Aptos"/>
                <a:ea typeface="Aptos"/>
                <a:cs typeface="Aptos"/>
              </a:rPr>
              <a:t>Enterprise Service Intake | Power Platform Senior Developer take-home | May 2026</a:t>
            </a:r>
          </a:p>
        </p:txBody>
      </p:sp>
      <p:sp>
        <p:nvSpPr>
          <p:cNvPr id="4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0C7CA18-747E-4D83-826E-88B283C2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C8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C8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708920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F376274-2A5D-4113-ACEB-CAAFE99D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9D95D7D-FABB-4808-81F4-DF4D59E6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493CDA1-2017-4809-BE0F-E97D127D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7B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67B1"/>
                </a:solidFill>
                <a:latin typeface="Aptos"/>
                <a:ea typeface="Aptos"/>
                <a:cs typeface="Aptos"/>
              </a:rPr>
              <a:t>PRO-CODE PLACEMENT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B359CA5-F4A2-4A74-ABA0-145A1147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00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23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2231"/>
                </a:solidFill>
                <a:latin typeface="Aptos Display"/>
                <a:ea typeface="Aptos Display"/>
                <a:cs typeface="Aptos Display"/>
              </a:rPr>
              <a:t>Plugins enforce rules that cannot be bypassed; PCF improves coordinator signal.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1A18C01F-98DD-40C8-AB6C-B3055038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81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Low-code remains the default, but transactional guardrails and advanced visual cues are deliberately placed in pro-code components.</a:t>
            </a:r>
          </a:p>
        </p:txBody>
      </p:sp>
      <p:sp>
        <p:nvSpPr>
          <p:cNvPr id="6" name="procode-table">
            <a:extLst xmlns:a="http://schemas.openxmlformats.org/drawingml/2006/main">
              <a:ext uri="{FF2B5EF4-FFF2-40B4-BE49-F238E27FC236}">
                <a16:creationId xmlns:a16="http://schemas.microsoft.com/office/drawing/2014/main" id="{9E5E5C33-2AF3-4003-B5E7-93263C77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6724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7" name="pc-header-component">
            <a:extLst xmlns:a="http://schemas.openxmlformats.org/drawingml/2006/main">
              <a:ext uri="{FF2B5EF4-FFF2-40B4-BE49-F238E27FC236}">
                <a16:creationId xmlns:a16="http://schemas.microsoft.com/office/drawing/2014/main" id="{D343DDD5-2281-4D6B-9BCD-12ACDDBB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8" name="pc-header-layer">
            <a:extLst xmlns:a="http://schemas.openxmlformats.org/drawingml/2006/main">
              <a:ext uri="{FF2B5EF4-FFF2-40B4-BE49-F238E27FC236}">
                <a16:creationId xmlns:a16="http://schemas.microsoft.com/office/drawing/2014/main" id="{A860EF30-4CEB-4C9A-A7D5-C5EEF4B5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146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Layer</a:t>
            </a:r>
          </a:p>
        </p:txBody>
      </p:sp>
      <p:sp>
        <p:nvSpPr>
          <p:cNvPr id="9" name="pc-header-reason">
            <a:extLst xmlns:a="http://schemas.openxmlformats.org/drawingml/2006/main">
              <a:ext uri="{FF2B5EF4-FFF2-40B4-BE49-F238E27FC236}">
                <a16:creationId xmlns:a16="http://schemas.microsoft.com/office/drawing/2014/main" id="{7B12927D-750E-4F92-A6E0-0C804005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146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Reason</a:t>
            </a:r>
          </a:p>
        </p:txBody>
      </p:sp>
      <p:sp>
        <p:nvSpPr>
          <p:cNvPr id="10" name="pc-header-rule">
            <a:extLst xmlns:a="http://schemas.openxmlformats.org/drawingml/2006/main">
              <a:ext uri="{FF2B5EF4-FFF2-40B4-BE49-F238E27FC236}">
                <a16:creationId xmlns:a16="http://schemas.microsoft.com/office/drawing/2014/main" id="{3F4E0CC3-4443-4141-BFA8-0A9DBE7E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pc-comp-0">
            <a:extLst xmlns:a="http://schemas.openxmlformats.org/drawingml/2006/main">
              <a:ext uri="{FF2B5EF4-FFF2-40B4-BE49-F238E27FC236}">
                <a16:creationId xmlns:a16="http://schemas.microsoft.com/office/drawing/2014/main" id="{E7E602CF-28A9-496A-96FC-7158B7D2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Routing plugin</a:t>
            </a:r>
          </a:p>
        </p:txBody>
      </p:sp>
      <p:sp>
        <p:nvSpPr>
          <p:cNvPr id="12" name="pc-layer-0">
            <a:extLst xmlns:a="http://schemas.openxmlformats.org/drawingml/2006/main">
              <a:ext uri="{FF2B5EF4-FFF2-40B4-BE49-F238E27FC236}">
                <a16:creationId xmlns:a16="http://schemas.microsoft.com/office/drawing/2014/main" id="{B8A01D56-D36B-4A76-A9FD-680938F4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9085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7B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67B1"/>
                </a:solidFill>
                <a:latin typeface="Aptos"/>
                <a:ea typeface="Aptos"/>
                <a:cs typeface="Aptos"/>
              </a:rPr>
              <a:t>PreOperation</a:t>
            </a:r>
          </a:p>
        </p:txBody>
      </p:sp>
      <p:sp>
        <p:nvSpPr>
          <p:cNvPr id="13" name="pc-reason-0">
            <a:extLst xmlns:a="http://schemas.openxmlformats.org/drawingml/2006/main">
              <a:ext uri="{FF2B5EF4-FFF2-40B4-BE49-F238E27FC236}">
                <a16:creationId xmlns:a16="http://schemas.microsoft.com/office/drawing/2014/main" id="{1DD9E183-19DD-45EA-AC5E-2C2BEA9A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908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Assigns department, SLA policy, due date, approval flag, and documentation requirement from active rules.</a:t>
            </a:r>
          </a:p>
        </p:txBody>
      </p:sp>
      <p:sp>
        <p:nvSpPr>
          <p:cNvPr id="14" name="pc-row-rule-1">
            <a:extLst xmlns:a="http://schemas.openxmlformats.org/drawingml/2006/main">
              <a:ext uri="{FF2B5EF4-FFF2-40B4-BE49-F238E27FC236}">
                <a16:creationId xmlns:a16="http://schemas.microsoft.com/office/drawing/2014/main" id="{603A3355-876D-42E8-B613-EE08AD1F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pc-comp-1">
            <a:extLst xmlns:a="http://schemas.openxmlformats.org/drawingml/2006/main">
              <a:ext uri="{FF2B5EF4-FFF2-40B4-BE49-F238E27FC236}">
                <a16:creationId xmlns:a16="http://schemas.microsoft.com/office/drawing/2014/main" id="{0668DEBB-72F1-458E-B028-1D43CF38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Closure guard</a:t>
            </a:r>
          </a:p>
        </p:txBody>
      </p:sp>
      <p:sp>
        <p:nvSpPr>
          <p:cNvPr id="16" name="pc-layer-1">
            <a:extLst xmlns:a="http://schemas.openxmlformats.org/drawingml/2006/main">
              <a:ext uri="{FF2B5EF4-FFF2-40B4-BE49-F238E27FC236}">
                <a16:creationId xmlns:a16="http://schemas.microsoft.com/office/drawing/2014/main" id="{44038D4A-2B00-4ED8-8995-055ED215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0045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7B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67B1"/>
                </a:solidFill>
                <a:latin typeface="Aptos"/>
                <a:ea typeface="Aptos"/>
                <a:cs typeface="Aptos"/>
              </a:rPr>
              <a:t>PreOperation</a:t>
            </a:r>
          </a:p>
        </p:txBody>
      </p:sp>
      <p:sp>
        <p:nvSpPr>
          <p:cNvPr id="17" name="pc-reason-1">
            <a:extLst xmlns:a="http://schemas.openxmlformats.org/drawingml/2006/main">
              <a:ext uri="{FF2B5EF4-FFF2-40B4-BE49-F238E27FC236}">
                <a16:creationId xmlns:a16="http://schemas.microsoft.com/office/drawing/2014/main" id="{EDB77127-C831-44D9-B85A-7DFBDAAD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004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Blocks critical closure unless internal notes and accepted evidence with SharePoint file URL exist.</a:t>
            </a:r>
          </a:p>
        </p:txBody>
      </p:sp>
      <p:sp>
        <p:nvSpPr>
          <p:cNvPr id="18" name="pc-row-rule-2">
            <a:extLst xmlns:a="http://schemas.openxmlformats.org/drawingml/2006/main">
              <a:ext uri="{FF2B5EF4-FFF2-40B4-BE49-F238E27FC236}">
                <a16:creationId xmlns:a16="http://schemas.microsoft.com/office/drawing/2014/main" id="{FFCD62CE-2152-4257-B269-AAFE9391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pc-comp-2">
            <a:extLst xmlns:a="http://schemas.openxmlformats.org/drawingml/2006/main">
              <a:ext uri="{FF2B5EF4-FFF2-40B4-BE49-F238E27FC236}">
                <a16:creationId xmlns:a16="http://schemas.microsoft.com/office/drawing/2014/main" id="{3505BACF-BB6F-4C3A-83E0-8ED6E506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External update policy</a:t>
            </a:r>
          </a:p>
        </p:txBody>
      </p:sp>
      <p:sp>
        <p:nvSpPr>
          <p:cNvPr id="20" name="pc-layer-2">
            <a:extLst xmlns:a="http://schemas.openxmlformats.org/drawingml/2006/main">
              <a:ext uri="{FF2B5EF4-FFF2-40B4-BE49-F238E27FC236}">
                <a16:creationId xmlns:a16="http://schemas.microsoft.com/office/drawing/2014/main" id="{292D3B6A-E6A1-4F55-B75A-B49A7E56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1005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7B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67B1"/>
                </a:solidFill>
                <a:latin typeface="Aptos"/>
                <a:ea typeface="Aptos"/>
                <a:cs typeface="Aptos"/>
              </a:rPr>
              <a:t>Shared C# policy</a:t>
            </a:r>
          </a:p>
        </p:txBody>
      </p:sp>
      <p:sp>
        <p:nvSpPr>
          <p:cNvPr id="21" name="pc-reason-2">
            <a:extLst xmlns:a="http://schemas.openxmlformats.org/drawingml/2006/main">
              <a:ext uri="{FF2B5EF4-FFF2-40B4-BE49-F238E27FC236}">
                <a16:creationId xmlns:a16="http://schemas.microsoft.com/office/drawing/2014/main" id="{F70E11F1-346B-472B-AA95-5FD88625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2100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Rejects portal/API updates to approval, ERP, routing, SLA, lifecycle, and internal-note fields.</a:t>
            </a:r>
          </a:p>
        </p:txBody>
      </p:sp>
      <p:sp>
        <p:nvSpPr>
          <p:cNvPr id="22" name="pc-row-rule-3">
            <a:extLst xmlns:a="http://schemas.openxmlformats.org/drawingml/2006/main">
              <a:ext uri="{FF2B5EF4-FFF2-40B4-BE49-F238E27FC236}">
                <a16:creationId xmlns:a16="http://schemas.microsoft.com/office/drawing/2014/main" id="{BE2E62D9-9339-4F6D-BC11-E4F6A141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pc-comp-3">
            <a:extLst xmlns:a="http://schemas.openxmlformats.org/drawingml/2006/main">
              <a:ext uri="{FF2B5EF4-FFF2-40B4-BE49-F238E27FC236}">
                <a16:creationId xmlns:a16="http://schemas.microsoft.com/office/drawing/2014/main" id="{1308CE25-A76D-4326-ACEA-B98ED0A1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SLA status PCF</a:t>
            </a:r>
          </a:p>
        </p:txBody>
      </p:sp>
      <p:sp>
        <p:nvSpPr>
          <p:cNvPr id="24" name="pc-layer-3">
            <a:extLst xmlns:a="http://schemas.openxmlformats.org/drawingml/2006/main">
              <a:ext uri="{FF2B5EF4-FFF2-40B4-BE49-F238E27FC236}">
                <a16:creationId xmlns:a16="http://schemas.microsoft.com/office/drawing/2014/main" id="{B987F61C-684E-4B1E-AF93-48240086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1965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A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7A43"/>
                </a:solidFill>
                <a:latin typeface="Aptos"/>
                <a:ea typeface="Aptos"/>
                <a:cs typeface="Aptos"/>
              </a:rPr>
              <a:t>Model-driven UX</a:t>
            </a:r>
          </a:p>
        </p:txBody>
      </p:sp>
      <p:sp>
        <p:nvSpPr>
          <p:cNvPr id="25" name="pc-reason-3">
            <a:extLst xmlns:a="http://schemas.openxmlformats.org/drawingml/2006/main">
              <a:ext uri="{FF2B5EF4-FFF2-40B4-BE49-F238E27FC236}">
                <a16:creationId xmlns:a16="http://schemas.microsoft.com/office/drawing/2014/main" id="{6797340A-DF86-4843-B73C-752C6FC1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8196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Summarizes severity, SLA risk, approval, and integration state for coordinators.</a:t>
            </a:r>
          </a:p>
        </p:txBody>
      </p:sp>
      <p:sp>
        <p:nvSpPr>
          <p:cNvPr id="26" name="plugin-over-flow">
            <a:extLst xmlns:a="http://schemas.openxmlformats.org/drawingml/2006/main">
              <a:ext uri="{FF2B5EF4-FFF2-40B4-BE49-F238E27FC236}">
                <a16:creationId xmlns:a16="http://schemas.microsoft.com/office/drawing/2014/main" id="{77DB8C56-125F-42C2-B589-65AC7E30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050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7" name="plugin-over-flow-accent">
            <a:extLst xmlns:a="http://schemas.openxmlformats.org/drawingml/2006/main">
              <a:ext uri="{FF2B5EF4-FFF2-40B4-BE49-F238E27FC236}">
                <a16:creationId xmlns:a16="http://schemas.microsoft.com/office/drawing/2014/main" id="{88DF98B8-D555-4B25-B2C7-2D887B48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050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plugin-over-flow-label">
            <a:extLst xmlns:a="http://schemas.openxmlformats.org/drawingml/2006/main">
              <a:ext uri="{FF2B5EF4-FFF2-40B4-BE49-F238E27FC236}">
                <a16:creationId xmlns:a16="http://schemas.microsoft.com/office/drawing/2014/main" id="{6DFEC587-10C2-4C7E-A585-3372B028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2895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PLUGIN OVER FLOW</a:t>
            </a:r>
          </a:p>
        </p:txBody>
      </p:sp>
      <p:sp>
        <p:nvSpPr>
          <p:cNvPr id="29" name="plugin-over-flow-value">
            <a:extLst xmlns:a="http://schemas.openxmlformats.org/drawingml/2006/main">
              <a:ext uri="{FF2B5EF4-FFF2-40B4-BE49-F238E27FC236}">
                <a16:creationId xmlns:a16="http://schemas.microsoft.com/office/drawing/2014/main" id="{D65F44B6-A212-4238-BE33-C2F072E0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14625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Transactional consistency</a:t>
            </a:r>
          </a:p>
        </p:txBody>
      </p:sp>
      <p:sp>
        <p:nvSpPr>
          <p:cNvPr id="30" name="plugin-over-flow-note">
            <a:extLst xmlns:a="http://schemas.openxmlformats.org/drawingml/2006/main">
              <a:ext uri="{FF2B5EF4-FFF2-40B4-BE49-F238E27FC236}">
                <a16:creationId xmlns:a16="http://schemas.microsoft.com/office/drawing/2014/main" id="{1D713998-F577-460B-AB6B-85B5C94A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Runs before commit across portal, app, API, imports, and automation.</a:t>
            </a:r>
          </a:p>
        </p:txBody>
      </p:sp>
      <p:sp>
        <p:nvSpPr>
          <p:cNvPr id="31" name="evidence-over-checkbox">
            <a:extLst xmlns:a="http://schemas.openxmlformats.org/drawingml/2006/main">
              <a:ext uri="{FF2B5EF4-FFF2-40B4-BE49-F238E27FC236}">
                <a16:creationId xmlns:a16="http://schemas.microsoft.com/office/drawing/2014/main" id="{6352A078-FDFC-428B-BA00-9B96A16D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623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32" name="evidence-over-checkbox-accent">
            <a:extLst xmlns:a="http://schemas.openxmlformats.org/drawingml/2006/main">
              <a:ext uri="{FF2B5EF4-FFF2-40B4-BE49-F238E27FC236}">
                <a16:creationId xmlns:a16="http://schemas.microsoft.com/office/drawing/2014/main" id="{6F154F8E-AAA4-477E-8EA5-40FF02BF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623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evidence-over-checkbox-label">
            <a:extLst xmlns:a="http://schemas.openxmlformats.org/drawingml/2006/main">
              <a:ext uri="{FF2B5EF4-FFF2-40B4-BE49-F238E27FC236}">
                <a16:creationId xmlns:a16="http://schemas.microsoft.com/office/drawing/2014/main" id="{CC411541-0738-4940-9614-FEC777D9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2895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EVIDENCE OVER CHECKBOX</a:t>
            </a:r>
          </a:p>
        </p:txBody>
      </p:sp>
      <p:sp>
        <p:nvSpPr>
          <p:cNvPr id="34" name="evidence-over-checkbox-value">
            <a:extLst xmlns:a="http://schemas.openxmlformats.org/drawingml/2006/main">
              <a:ext uri="{FF2B5EF4-FFF2-40B4-BE49-F238E27FC236}">
                <a16:creationId xmlns:a16="http://schemas.microsoft.com/office/drawing/2014/main" id="{AB39ABCF-4D41-40A3-A090-CE6F94DB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71925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Non-bypassable guardrail</a:t>
            </a:r>
          </a:p>
        </p:txBody>
      </p:sp>
      <p:sp>
        <p:nvSpPr>
          <p:cNvPr id="35" name="evidence-over-checkbox-note">
            <a:extLst xmlns:a="http://schemas.openxmlformats.org/drawingml/2006/main">
              <a:ext uri="{FF2B5EF4-FFF2-40B4-BE49-F238E27FC236}">
                <a16:creationId xmlns:a16="http://schemas.microsoft.com/office/drawing/2014/main" id="{924849A4-628E-4771-9BE3-87B5D5F6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2435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Checks accepted evidence rows and file URL, not a user-editable flag.</a:t>
            </a:r>
          </a:p>
        </p:txBody>
      </p:sp>
      <p:sp>
        <p:nvSpPr>
          <p:cNvPr id="36" name="pcf-over-field">
            <a:extLst xmlns:a="http://schemas.openxmlformats.org/drawingml/2006/main">
              <a:ext uri="{FF2B5EF4-FFF2-40B4-BE49-F238E27FC236}">
                <a16:creationId xmlns:a16="http://schemas.microsoft.com/office/drawing/2014/main" id="{2349C007-2D05-42F2-9CFD-375C45A5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196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37" name="pcf-over-field-accent">
            <a:extLst xmlns:a="http://schemas.openxmlformats.org/drawingml/2006/main">
              <a:ext uri="{FF2B5EF4-FFF2-40B4-BE49-F238E27FC236}">
                <a16:creationId xmlns:a16="http://schemas.microsoft.com/office/drawing/2014/main" id="{7C2B7716-C435-4D03-9452-E4B35CE4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196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pcf-over-field-label">
            <a:extLst xmlns:a="http://schemas.openxmlformats.org/drawingml/2006/main">
              <a:ext uri="{FF2B5EF4-FFF2-40B4-BE49-F238E27FC236}">
                <a16:creationId xmlns:a16="http://schemas.microsoft.com/office/drawing/2014/main" id="{20718429-25C1-4AD0-A673-8ECF1AAD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72050"/>
            <a:ext cx="2895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PCF OVER TEXT FIELD</a:t>
            </a:r>
          </a:p>
        </p:txBody>
      </p:sp>
      <p:sp>
        <p:nvSpPr>
          <p:cNvPr id="39" name="pcf-over-field-value">
            <a:extLst xmlns:a="http://schemas.openxmlformats.org/drawingml/2006/main">
              <a:ext uri="{FF2B5EF4-FFF2-40B4-BE49-F238E27FC236}">
                <a16:creationId xmlns:a16="http://schemas.microsoft.com/office/drawing/2014/main" id="{3C757797-E238-4169-AC03-0C50F5EF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29225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Fast coordinator scan</a:t>
            </a:r>
          </a:p>
        </p:txBody>
      </p:sp>
      <p:sp>
        <p:nvSpPr>
          <p:cNvPr id="40" name="pcf-over-field-note">
            <a:extLst xmlns:a="http://schemas.openxmlformats.org/drawingml/2006/main">
              <a:ext uri="{FF2B5EF4-FFF2-40B4-BE49-F238E27FC236}">
                <a16:creationId xmlns:a16="http://schemas.microsoft.com/office/drawing/2014/main" id="{1752F3A9-2D04-42A9-92CA-A54B664C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8165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Shows risk signal without adding another workflow branch.</a:t>
            </a:r>
          </a:p>
        </p:txBody>
      </p:sp>
      <p:sp>
        <p:nvSpPr>
          <p:cNvPr id="4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F55181D-3D12-4DEA-AA60-F58A7A74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8CA04515-41F3-4993-AA27-3697F356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C8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C8E"/>
                </a:solidFill>
                <a:latin typeface="Aptos"/>
                <a:ea typeface="Aptos"/>
                <a:cs typeface="Aptos"/>
              </a:rPr>
              <a:t>Enterprise Service Intake | Power Platform Senior Developer take-home | May 2026</a:t>
            </a:r>
          </a:p>
        </p:txBody>
      </p:sp>
      <p:sp>
        <p:nvSpPr>
          <p:cNvPr id="4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404E663-3700-4AD9-9515-37B7A4FB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C8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C8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3440643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5F3FBE8-E236-4D47-997F-A6F9B25D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695648B-A0DE-4268-AF57-6DA68911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00D9DBE-0B95-4CF6-B366-50490701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7B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67B1"/>
                </a:solidFill>
                <a:latin typeface="Aptos"/>
                <a:ea typeface="Aptos"/>
                <a:cs typeface="Aptos"/>
              </a:rPr>
              <a:t>SECURITY AND ALM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532EA7C-A60F-4769-927B-5DE1524A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00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23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2231"/>
                </a:solidFill>
                <a:latin typeface="Aptos Display"/>
                <a:ea typeface="Aptos Display"/>
                <a:cs typeface="Aptos Display"/>
              </a:rPr>
              <a:t>Security, source control, and verification are part of the deliverable, not afterthoughts.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D016AEAE-10C2-450B-A6ED-6D213175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81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The handoff includes environment links, source, managed package, documentation, user manual, demo script, and live verification evidence.</a:t>
            </a:r>
          </a:p>
        </p:txBody>
      </p:sp>
      <p:sp>
        <p:nvSpPr>
          <p:cNvPr id="6" name="security-portal">
            <a:extLst xmlns:a="http://schemas.openxmlformats.org/drawingml/2006/main">
              <a:ext uri="{FF2B5EF4-FFF2-40B4-BE49-F238E27FC236}">
                <a16:creationId xmlns:a16="http://schemas.microsoft.com/office/drawing/2014/main" id="{F33B95BC-9B8B-476A-85CF-67C965A3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3333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7" name="security-portal-accent">
            <a:extLst xmlns:a="http://schemas.openxmlformats.org/drawingml/2006/main">
              <a:ext uri="{FF2B5EF4-FFF2-40B4-BE49-F238E27FC236}">
                <a16:creationId xmlns:a16="http://schemas.microsoft.com/office/drawing/2014/main" id="{3384CD41-C488-43FB-9AF8-C1F0AEF4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ecurity-portal-label">
            <a:extLst xmlns:a="http://schemas.openxmlformats.org/drawingml/2006/main">
              <a:ext uri="{FF2B5EF4-FFF2-40B4-BE49-F238E27FC236}">
                <a16:creationId xmlns:a16="http://schemas.microsoft.com/office/drawing/2014/main" id="{A3B4720E-3A4F-45CA-8119-87CE19B8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PORTAL SECURITY</a:t>
            </a:r>
          </a:p>
        </p:txBody>
      </p:sp>
      <p:sp>
        <p:nvSpPr>
          <p:cNvPr id="9" name="security-portal-value">
            <a:extLst xmlns:a="http://schemas.openxmlformats.org/drawingml/2006/main">
              <a:ext uri="{FF2B5EF4-FFF2-40B4-BE49-F238E27FC236}">
                <a16:creationId xmlns:a16="http://schemas.microsoft.com/office/drawing/2014/main" id="{099AFD93-2D80-4E06-89DE-E754C25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Contact-scoped access</a:t>
            </a:r>
          </a:p>
        </p:txBody>
      </p:sp>
      <p:sp>
        <p:nvSpPr>
          <p:cNvPr id="10" name="security-portal-note">
            <a:extLst xmlns:a="http://schemas.openxmlformats.org/drawingml/2006/main">
              <a:ext uri="{FF2B5EF4-FFF2-40B4-BE49-F238E27FC236}">
                <a16:creationId xmlns:a16="http://schemas.microsoft.com/office/drawing/2014/main" id="{562BA176-D45F-41BC-B8EF-3A971599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990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Authenticated users create/resume only their own requests; Web API fields are allowlisted.</a:t>
            </a:r>
          </a:p>
        </p:txBody>
      </p:sp>
      <p:sp>
        <p:nvSpPr>
          <p:cNvPr id="11" name="security-internal">
            <a:extLst xmlns:a="http://schemas.openxmlformats.org/drawingml/2006/main">
              <a:ext uri="{FF2B5EF4-FFF2-40B4-BE49-F238E27FC236}">
                <a16:creationId xmlns:a16="http://schemas.microsoft.com/office/drawing/2014/main" id="{68380EB6-211C-403E-BB0D-564C4A14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43150"/>
            <a:ext cx="3333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2" name="security-internal-accent">
            <a:extLst xmlns:a="http://schemas.openxmlformats.org/drawingml/2006/main">
              <a:ext uri="{FF2B5EF4-FFF2-40B4-BE49-F238E27FC236}">
                <a16:creationId xmlns:a16="http://schemas.microsoft.com/office/drawing/2014/main" id="{8F61317F-9F1B-46DC-B0AD-09A8D6E0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4315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ecurity-internal-label">
            <a:extLst xmlns:a="http://schemas.openxmlformats.org/drawingml/2006/main">
              <a:ext uri="{FF2B5EF4-FFF2-40B4-BE49-F238E27FC236}">
                <a16:creationId xmlns:a16="http://schemas.microsoft.com/office/drawing/2014/main" id="{8E1C2EC9-B58D-495E-9264-27A88417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9555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INTERNAL SECURITY</a:t>
            </a:r>
          </a:p>
        </p:txBody>
      </p:sp>
      <p:sp>
        <p:nvSpPr>
          <p:cNvPr id="14" name="security-internal-value">
            <a:extLst xmlns:a="http://schemas.openxmlformats.org/drawingml/2006/main">
              <a:ext uri="{FF2B5EF4-FFF2-40B4-BE49-F238E27FC236}">
                <a16:creationId xmlns:a16="http://schemas.microsoft.com/office/drawing/2014/main" id="{B5AB391B-2EFA-4D54-BDC8-24FBAA2B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52725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Protected fields</a:t>
            </a:r>
          </a:p>
        </p:txBody>
      </p:sp>
      <p:sp>
        <p:nvSpPr>
          <p:cNvPr id="15" name="security-internal-note">
            <a:extLst xmlns:a="http://schemas.openxmlformats.org/drawingml/2006/main">
              <a:ext uri="{FF2B5EF4-FFF2-40B4-BE49-F238E27FC236}">
                <a16:creationId xmlns:a16="http://schemas.microsoft.com/office/drawing/2014/main" id="{9DA9A19B-4F53-499E-951E-85AB36E1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05150"/>
            <a:ext cx="2990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Internal notes, approval, routing/SLA, lifecycle, and ERP fields are blocked by plugin policy.</a:t>
            </a:r>
          </a:p>
        </p:txBody>
      </p:sp>
      <p:sp>
        <p:nvSpPr>
          <p:cNvPr id="16" name="security-secrets">
            <a:extLst xmlns:a="http://schemas.openxmlformats.org/drawingml/2006/main">
              <a:ext uri="{FF2B5EF4-FFF2-40B4-BE49-F238E27FC236}">
                <a16:creationId xmlns:a16="http://schemas.microsoft.com/office/drawing/2014/main" id="{8A5899E8-A0B2-49C3-9093-D6947C11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43150"/>
            <a:ext cx="3333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7" name="security-secrets-accent">
            <a:extLst xmlns:a="http://schemas.openxmlformats.org/drawingml/2006/main">
              <a:ext uri="{FF2B5EF4-FFF2-40B4-BE49-F238E27FC236}">
                <a16:creationId xmlns:a16="http://schemas.microsoft.com/office/drawing/2014/main" id="{6E6FE0C8-1024-483C-AAC2-2ED6E87A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4315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security-secrets-label">
            <a:extLst xmlns:a="http://schemas.openxmlformats.org/drawingml/2006/main">
              <a:ext uri="{FF2B5EF4-FFF2-40B4-BE49-F238E27FC236}">
                <a16:creationId xmlns:a16="http://schemas.microsoft.com/office/drawing/2014/main" id="{CE2AB298-87B1-4336-A0CE-7378526D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9555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D80"/>
                </a:solidFill>
                <a:latin typeface="Aptos"/>
                <a:ea typeface="Aptos"/>
                <a:cs typeface="Aptos"/>
              </a:rPr>
              <a:t>SECRETS</a:t>
            </a:r>
          </a:p>
        </p:txBody>
      </p:sp>
      <p:sp>
        <p:nvSpPr>
          <p:cNvPr id="19" name="security-secrets-value">
            <a:extLst xmlns:a="http://schemas.openxmlformats.org/drawingml/2006/main">
              <a:ext uri="{FF2B5EF4-FFF2-40B4-BE49-F238E27FC236}">
                <a16:creationId xmlns:a16="http://schemas.microsoft.com/office/drawing/2014/main" id="{4569D3B5-CE5F-4727-8B2F-F6B519F2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52725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Out of Git</a:t>
            </a:r>
          </a:p>
        </p:txBody>
      </p:sp>
      <p:sp>
        <p:nvSpPr>
          <p:cNvPr id="20" name="security-secrets-note">
            <a:extLst xmlns:a="http://schemas.openxmlformats.org/drawingml/2006/main">
              <a:ext uri="{FF2B5EF4-FFF2-40B4-BE49-F238E27FC236}">
                <a16:creationId xmlns:a16="http://schemas.microsoft.com/office/drawing/2014/main" id="{8D4A1E3F-7ABD-4854-AC56-2B03C0EF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2990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Reviewer passwords and OAuth secrets are shared separately and rotated after interview.</a:t>
            </a:r>
          </a:p>
        </p:txBody>
      </p:sp>
      <p:sp>
        <p:nvSpPr>
          <p:cNvPr id="21" name="alm-card">
            <a:extLst xmlns:a="http://schemas.openxmlformats.org/drawingml/2006/main">
              <a:ext uri="{FF2B5EF4-FFF2-40B4-BE49-F238E27FC236}">
                <a16:creationId xmlns:a16="http://schemas.microsoft.com/office/drawing/2014/main" id="{AA54FD13-692E-4C0B-A613-35199690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5257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22" name="alm-title">
            <a:extLst xmlns:a="http://schemas.openxmlformats.org/drawingml/2006/main">
              <a:ext uri="{FF2B5EF4-FFF2-40B4-BE49-F238E27FC236}">
                <a16:creationId xmlns:a16="http://schemas.microsoft.com/office/drawing/2014/main" id="{513435D4-9C46-45A3-BD57-1DF4DD0B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ALM artifacts</a:t>
            </a:r>
          </a:p>
        </p:txBody>
      </p:sp>
      <p:sp>
        <p:nvSpPr>
          <p:cNvPr id="23" name="alm-bullets-0-dot">
            <a:extLst xmlns:a="http://schemas.openxmlformats.org/drawingml/2006/main">
              <a:ext uri="{FF2B5EF4-FFF2-40B4-BE49-F238E27FC236}">
                <a16:creationId xmlns:a16="http://schemas.microsoft.com/office/drawing/2014/main" id="{894C8147-817E-4C28-91B1-E9A2AF54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72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alm-bullets-0-text">
            <a:extLst xmlns:a="http://schemas.openxmlformats.org/drawingml/2006/main">
              <a:ext uri="{FF2B5EF4-FFF2-40B4-BE49-F238E27FC236}">
                <a16:creationId xmlns:a16="http://schemas.microsoft.com/office/drawing/2014/main" id="{A72B8814-1E46-49E0-AE9C-A19C6CF7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86300"/>
            <a:ext cx="4210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162231"/>
                </a:solidFill>
                <a:latin typeface="Aptos"/>
                <a:ea typeface="Aptos"/>
                <a:cs typeface="Aptos"/>
              </a:rPr>
              <a:t>Managed and unmanaged solution exports.</a:t>
            </a:r>
          </a:p>
        </p:txBody>
      </p:sp>
      <p:sp>
        <p:nvSpPr>
          <p:cNvPr id="25" name="alm-bullets-1-dot">
            <a:extLst xmlns:a="http://schemas.openxmlformats.org/drawingml/2006/main">
              <a:ext uri="{FF2B5EF4-FFF2-40B4-BE49-F238E27FC236}">
                <a16:creationId xmlns:a16="http://schemas.microsoft.com/office/drawing/2014/main" id="{47E4B676-C687-4824-B8BD-89A3EECD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alm-bullets-1-text">
            <a:extLst xmlns:a="http://schemas.openxmlformats.org/drawingml/2006/main">
              <a:ext uri="{FF2B5EF4-FFF2-40B4-BE49-F238E27FC236}">
                <a16:creationId xmlns:a16="http://schemas.microsoft.com/office/drawing/2014/main" id="{EF620990-34D6-4841-8682-12122E09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81575"/>
            <a:ext cx="4210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162231"/>
                </a:solidFill>
                <a:latin typeface="Aptos"/>
                <a:ea typeface="Aptos"/>
                <a:cs typeface="Aptos"/>
              </a:rPr>
              <a:t>PAC-unpacked source under solution/unpacked.</a:t>
            </a:r>
          </a:p>
        </p:txBody>
      </p:sp>
      <p:sp>
        <p:nvSpPr>
          <p:cNvPr id="27" name="alm-bullets-2-dot">
            <a:extLst xmlns:a="http://schemas.openxmlformats.org/drawingml/2006/main">
              <a:ext uri="{FF2B5EF4-FFF2-40B4-BE49-F238E27FC236}">
                <a16:creationId xmlns:a16="http://schemas.microsoft.com/office/drawing/2014/main" id="{E1B0C33C-1B10-468F-83BD-1A9F7E4D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2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alm-bullets-2-text">
            <a:extLst xmlns:a="http://schemas.openxmlformats.org/drawingml/2006/main">
              <a:ext uri="{FF2B5EF4-FFF2-40B4-BE49-F238E27FC236}">
                <a16:creationId xmlns:a16="http://schemas.microsoft.com/office/drawing/2014/main" id="{1485568F-29EE-43F5-9458-897072C0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76850"/>
            <a:ext cx="4210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162231"/>
                </a:solidFill>
                <a:latin typeface="Aptos"/>
                <a:ea typeface="Aptos"/>
                <a:cs typeface="Aptos"/>
              </a:rPr>
              <a:t>C# plugin, PCF, Power Pages, web-resource, and provisioning source in Git.</a:t>
            </a:r>
          </a:p>
        </p:txBody>
      </p:sp>
      <p:sp>
        <p:nvSpPr>
          <p:cNvPr id="29" name="verification-card">
            <a:extLst xmlns:a="http://schemas.openxmlformats.org/drawingml/2006/main">
              <a:ext uri="{FF2B5EF4-FFF2-40B4-BE49-F238E27FC236}">
                <a16:creationId xmlns:a16="http://schemas.microsoft.com/office/drawing/2014/main" id="{5A963CFD-55F6-4F7B-80AA-6BA33232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5257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30" name="verification-title">
            <a:extLst xmlns:a="http://schemas.openxmlformats.org/drawingml/2006/main">
              <a:ext uri="{FF2B5EF4-FFF2-40B4-BE49-F238E27FC236}">
                <a16:creationId xmlns:a16="http://schemas.microsoft.com/office/drawing/2014/main" id="{45C931D8-9A3F-4C3F-8C36-5AC616B5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053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Verification evidence</a:t>
            </a:r>
          </a:p>
        </p:txBody>
      </p:sp>
      <p:sp>
        <p:nvSpPr>
          <p:cNvPr id="31" name="verify-plugin">
            <a:extLst xmlns:a="http://schemas.openxmlformats.org/drawingml/2006/main">
              <a:ext uri="{FF2B5EF4-FFF2-40B4-BE49-F238E27FC236}">
                <a16:creationId xmlns:a16="http://schemas.microsoft.com/office/drawing/2014/main" id="{A122745D-6FC2-45C8-8199-9233DD72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053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C"/>
          </a:solidFill>
          <a:ln xmlns:a="http://schemas.openxmlformats.org/drawingml/2006/main" w="9525">
            <a:solidFill>
              <a:srgbClr val="BCE3CA"/>
            </a:solidFill>
            <a:prstDash val="solid"/>
          </a:ln>
        </p:spPr>
      </p:sp>
      <p:sp>
        <p:nvSpPr>
          <p:cNvPr id="32" name="verify-plugin-text">
            <a:extLst xmlns:a="http://schemas.openxmlformats.org/drawingml/2006/main">
              <a:ext uri="{FF2B5EF4-FFF2-40B4-BE49-F238E27FC236}">
                <a16:creationId xmlns:a16="http://schemas.microsoft.com/office/drawing/2014/main" id="{15B0C19D-02B5-4C2D-80DB-A9FA9581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5297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7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A43"/>
                </a:solidFill>
                <a:latin typeface="Aptos"/>
                <a:ea typeface="Aptos"/>
                <a:cs typeface="Aptos"/>
              </a:rPr>
              <a:t>Plugin build</a:t>
            </a:r>
          </a:p>
        </p:txBody>
      </p:sp>
      <p:sp>
        <p:nvSpPr>
          <p:cNvPr id="33" name="verify-pcf">
            <a:extLst xmlns:a="http://schemas.openxmlformats.org/drawingml/2006/main">
              <a:ext uri="{FF2B5EF4-FFF2-40B4-BE49-F238E27FC236}">
                <a16:creationId xmlns:a16="http://schemas.microsoft.com/office/drawing/2014/main" id="{48017C26-27FA-4F44-B839-BA0D2734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0535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C"/>
          </a:solidFill>
          <a:ln xmlns:a="http://schemas.openxmlformats.org/drawingml/2006/main" w="9525">
            <a:solidFill>
              <a:srgbClr val="BCE3CA"/>
            </a:solidFill>
            <a:prstDash val="solid"/>
          </a:ln>
        </p:spPr>
      </p:sp>
      <p:sp>
        <p:nvSpPr>
          <p:cNvPr id="34" name="verify-pcf-text">
            <a:extLst xmlns:a="http://schemas.openxmlformats.org/drawingml/2006/main">
              <a:ext uri="{FF2B5EF4-FFF2-40B4-BE49-F238E27FC236}">
                <a16:creationId xmlns:a16="http://schemas.microsoft.com/office/drawing/2014/main" id="{17892756-E2B8-43CD-821C-B16FADB9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529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7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A43"/>
                </a:solidFill>
                <a:latin typeface="Aptos"/>
                <a:ea typeface="Aptos"/>
                <a:cs typeface="Aptos"/>
              </a:rPr>
              <a:t>PCF push</a:t>
            </a:r>
          </a:p>
        </p:txBody>
      </p:sp>
      <p:sp>
        <p:nvSpPr>
          <p:cNvPr id="35" name="verify-portal">
            <a:extLst xmlns:a="http://schemas.openxmlformats.org/drawingml/2006/main">
              <a:ext uri="{FF2B5EF4-FFF2-40B4-BE49-F238E27FC236}">
                <a16:creationId xmlns:a16="http://schemas.microsoft.com/office/drawing/2014/main" id="{0F56F914-1999-4FBE-811A-80B79FFC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053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C"/>
          </a:solidFill>
          <a:ln xmlns:a="http://schemas.openxmlformats.org/drawingml/2006/main" w="9525">
            <a:solidFill>
              <a:srgbClr val="BCE3CA"/>
            </a:solidFill>
            <a:prstDash val="solid"/>
          </a:ln>
        </p:spPr>
      </p:sp>
      <p:sp>
        <p:nvSpPr>
          <p:cNvPr id="36" name="verify-portal-text">
            <a:extLst xmlns:a="http://schemas.openxmlformats.org/drawingml/2006/main">
              <a:ext uri="{FF2B5EF4-FFF2-40B4-BE49-F238E27FC236}">
                <a16:creationId xmlns:a16="http://schemas.microsoft.com/office/drawing/2014/main" id="{DD5C1731-ABA1-43F9-96F8-D36A11C7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5297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7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A43"/>
                </a:solidFill>
                <a:latin typeface="Aptos"/>
                <a:ea typeface="Aptos"/>
                <a:cs typeface="Aptos"/>
              </a:rPr>
              <a:t>Portal upload</a:t>
            </a:r>
          </a:p>
        </p:txBody>
      </p:sp>
      <p:sp>
        <p:nvSpPr>
          <p:cNvPr id="37" name="verify-flow">
            <a:extLst xmlns:a="http://schemas.openxmlformats.org/drawingml/2006/main">
              <a:ext uri="{FF2B5EF4-FFF2-40B4-BE49-F238E27FC236}">
                <a16:creationId xmlns:a16="http://schemas.microsoft.com/office/drawing/2014/main" id="{2E8B2656-5B5B-4DB5-896D-4D2429A0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705350"/>
            <a:ext cx="971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C"/>
          </a:solidFill>
          <a:ln xmlns:a="http://schemas.openxmlformats.org/drawingml/2006/main" w="9525">
            <a:solidFill>
              <a:srgbClr val="BCE3CA"/>
            </a:solidFill>
            <a:prstDash val="solid"/>
          </a:ln>
        </p:spPr>
      </p:sp>
      <p:sp>
        <p:nvSpPr>
          <p:cNvPr id="38" name="verify-flow-text">
            <a:extLst xmlns:a="http://schemas.openxmlformats.org/drawingml/2006/main">
              <a:ext uri="{FF2B5EF4-FFF2-40B4-BE49-F238E27FC236}">
                <a16:creationId xmlns:a16="http://schemas.microsoft.com/office/drawing/2014/main" id="{63F8970B-A5FE-4517-ADC6-9E636FBB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752975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7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A43"/>
                </a:solidFill>
                <a:latin typeface="Aptos"/>
                <a:ea typeface="Aptos"/>
                <a:cs typeface="Aptos"/>
              </a:rPr>
              <a:t>Flow smoke</a:t>
            </a:r>
          </a:p>
        </p:txBody>
      </p:sp>
      <p:sp>
        <p:nvSpPr>
          <p:cNvPr id="39" name="verification-note">
            <a:extLst xmlns:a="http://schemas.openxmlformats.org/drawingml/2006/main">
              <a:ext uri="{FF2B5EF4-FFF2-40B4-BE49-F238E27FC236}">
                <a16:creationId xmlns:a16="http://schemas.microsoft.com/office/drawing/2014/main" id="{CE404635-C0F8-48EA-8764-B0C810B7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2445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Live verification notes document portal dynamic preview, required-file gate, SharePoint upload, model-driven UX, routing matrix save, flows, dashboards, and guardrail smoke tests.</a:t>
            </a:r>
          </a:p>
        </p:txBody>
      </p:sp>
      <p:sp>
        <p:nvSpPr>
          <p:cNvPr id="4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138BFEF-A583-492E-93C8-98D48E0B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98744A1F-F863-40B0-8A10-FE984425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C8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C8E"/>
                </a:solidFill>
                <a:latin typeface="Aptos"/>
                <a:ea typeface="Aptos"/>
                <a:cs typeface="Aptos"/>
              </a:rPr>
              <a:t>Enterprise Service Intake | Power Platform Senior Developer take-home | May 2026</a:t>
            </a:r>
          </a:p>
        </p:txBody>
      </p:sp>
      <p:sp>
        <p:nvSpPr>
          <p:cNvPr id="4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C3D845E-F90D-4FE7-99A9-8B8D5382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C8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C8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0003923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BBEA3B3-624E-4E1C-8570-22342941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73A530D-E92E-4613-AC47-BBBD649E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E07B034-DECE-49D1-8C70-A14F99B2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7B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67B1"/>
                </a:solidFill>
                <a:latin typeface="Aptos"/>
                <a:ea typeface="Aptos"/>
                <a:cs typeface="Aptos"/>
              </a:rPr>
              <a:t>LIVE DEMO PATH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A819F0AD-E482-4093-96FD-2EFB3421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00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23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2231"/>
                </a:solidFill>
                <a:latin typeface="Aptos Display"/>
                <a:ea typeface="Aptos Display"/>
                <a:cs typeface="Aptos Display"/>
              </a:rPr>
              <a:t>The walkthrough is structured around observable outcomes, not screen hopping.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48F28B28-55DC-4B54-B51B-7F9DDBC3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81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A 12-15 minute review can prove the external UX, internal operations, automation, resiliency, and ALM story.</a:t>
            </a:r>
          </a:p>
        </p:txBody>
      </p:sp>
      <p:sp>
        <p:nvSpPr>
          <p:cNvPr id="6" name="demo-table">
            <a:extLst xmlns:a="http://schemas.openxmlformats.org/drawingml/2006/main">
              <a:ext uri="{FF2B5EF4-FFF2-40B4-BE49-F238E27FC236}">
                <a16:creationId xmlns:a16="http://schemas.microsoft.com/office/drawing/2014/main" id="{CA8328B3-AE47-4931-B74D-2A01BE80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8585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7" name="demo-time-0">
            <a:extLst xmlns:a="http://schemas.openxmlformats.org/drawingml/2006/main">
              <a:ext uri="{FF2B5EF4-FFF2-40B4-BE49-F238E27FC236}">
                <a16:creationId xmlns:a16="http://schemas.microsoft.com/office/drawing/2014/main" id="{A0ACEBAF-5847-46FC-B421-B67103DA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FF"/>
          </a:solidFill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8" name="demo-time-0-text">
            <a:extLst xmlns:a="http://schemas.openxmlformats.org/drawingml/2006/main">
              <a:ext uri="{FF2B5EF4-FFF2-40B4-BE49-F238E27FC236}">
                <a16:creationId xmlns:a16="http://schemas.microsoft.com/office/drawing/2014/main" id="{D9331F91-2071-4805-8938-D20376BC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050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3B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3B66"/>
                </a:solidFill>
                <a:latin typeface="Aptos"/>
                <a:ea typeface="Aptos"/>
                <a:cs typeface="Aptos"/>
              </a:rPr>
              <a:t>0-2 min</a:t>
            </a:r>
          </a:p>
        </p:txBody>
      </p:sp>
      <p:sp>
        <p:nvSpPr>
          <p:cNvPr id="9" name="demo-title-0">
            <a:extLst xmlns:a="http://schemas.openxmlformats.org/drawingml/2006/main">
              <a:ext uri="{FF2B5EF4-FFF2-40B4-BE49-F238E27FC236}">
                <a16:creationId xmlns:a16="http://schemas.microsoft.com/office/drawing/2014/main" id="{965A5DB9-C5D1-4D69-BD89-85BC3D6B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765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Architecture + ERD</a:t>
            </a:r>
          </a:p>
        </p:txBody>
      </p:sp>
      <p:sp>
        <p:nvSpPr>
          <p:cNvPr id="10" name="demo-note-0">
            <a:extLst xmlns:a="http://schemas.openxmlformats.org/drawingml/2006/main">
              <a:ext uri="{FF2B5EF4-FFF2-40B4-BE49-F238E27FC236}">
                <a16:creationId xmlns:a16="http://schemas.microsoft.com/office/drawing/2014/main" id="{976D19B7-B6EF-4C03-BF4A-45681AB5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1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11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Show Dataverse as authority and why plugin/Flow boundaries are placed that way.</a:t>
            </a:r>
          </a:p>
        </p:txBody>
      </p:sp>
      <p:sp>
        <p:nvSpPr>
          <p:cNvPr id="11" name="demo-rule-1">
            <a:extLst xmlns:a="http://schemas.openxmlformats.org/drawingml/2006/main">
              <a:ext uri="{FF2B5EF4-FFF2-40B4-BE49-F238E27FC236}">
                <a16:creationId xmlns:a16="http://schemas.microsoft.com/office/drawing/2014/main" id="{664C9226-0236-48BB-802B-DA87C001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demo-time-1">
            <a:extLst xmlns:a="http://schemas.openxmlformats.org/drawingml/2006/main">
              <a:ext uri="{FF2B5EF4-FFF2-40B4-BE49-F238E27FC236}">
                <a16:creationId xmlns:a16="http://schemas.microsoft.com/office/drawing/2014/main" id="{EDB92454-A935-404C-B86A-D351717B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FF"/>
          </a:solidFill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13" name="demo-time-1-text">
            <a:extLst xmlns:a="http://schemas.openxmlformats.org/drawingml/2006/main">
              <a:ext uri="{FF2B5EF4-FFF2-40B4-BE49-F238E27FC236}">
                <a16:creationId xmlns:a16="http://schemas.microsoft.com/office/drawing/2014/main" id="{4E01BF78-27C5-44F4-872D-414BE25D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5752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3B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3B66"/>
                </a:solidFill>
                <a:latin typeface="Aptos"/>
                <a:ea typeface="Aptos"/>
                <a:cs typeface="Aptos"/>
              </a:rPr>
              <a:t>2-6 min</a:t>
            </a:r>
          </a:p>
        </p:txBody>
      </p:sp>
      <p:sp>
        <p:nvSpPr>
          <p:cNvPr id="14" name="demo-title-1">
            <a:extLst xmlns:a="http://schemas.openxmlformats.org/drawingml/2006/main">
              <a:ext uri="{FF2B5EF4-FFF2-40B4-BE49-F238E27FC236}">
                <a16:creationId xmlns:a16="http://schemas.microsoft.com/office/drawing/2014/main" id="{3580D94B-EFA6-4B75-B125-0D2FDE20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0289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Portal submission</a:t>
            </a:r>
          </a:p>
        </p:txBody>
      </p:sp>
      <p:sp>
        <p:nvSpPr>
          <p:cNvPr id="15" name="demo-note-1">
            <a:extLst xmlns:a="http://schemas.openxmlformats.org/drawingml/2006/main">
              <a:ext uri="{FF2B5EF4-FFF2-40B4-BE49-F238E27FC236}">
                <a16:creationId xmlns:a16="http://schemas.microsoft.com/office/drawing/2014/main" id="{EDA50332-E66C-406A-B456-F1DEA6C7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1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11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Sign in, save draft, preview response estimate, upload required file, submit.</a:t>
            </a:r>
          </a:p>
        </p:txBody>
      </p:sp>
      <p:sp>
        <p:nvSpPr>
          <p:cNvPr id="16" name="demo-rule-2">
            <a:extLst xmlns:a="http://schemas.openxmlformats.org/drawingml/2006/main">
              <a:ext uri="{FF2B5EF4-FFF2-40B4-BE49-F238E27FC236}">
                <a16:creationId xmlns:a16="http://schemas.microsoft.com/office/drawing/2014/main" id="{98EF5B39-5C04-4CAF-9E94-C7E6AC09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demo-time-2">
            <a:extLst xmlns:a="http://schemas.openxmlformats.org/drawingml/2006/main">
              <a:ext uri="{FF2B5EF4-FFF2-40B4-BE49-F238E27FC236}">
                <a16:creationId xmlns:a16="http://schemas.microsoft.com/office/drawing/2014/main" id="{24BB36F4-D2CB-4767-A35C-1162ECF2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C"/>
          </a:solidFill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18" name="demo-time-2-text">
            <a:extLst xmlns:a="http://schemas.openxmlformats.org/drawingml/2006/main">
              <a:ext uri="{FF2B5EF4-FFF2-40B4-BE49-F238E27FC236}">
                <a16:creationId xmlns:a16="http://schemas.microsoft.com/office/drawing/2014/main" id="{C997E0D2-931C-4C85-A12E-6E85DCA3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99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7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A43"/>
                </a:solidFill>
                <a:latin typeface="Aptos"/>
                <a:ea typeface="Aptos"/>
                <a:cs typeface="Aptos"/>
              </a:rPr>
              <a:t>6-9 min</a:t>
            </a:r>
          </a:p>
        </p:txBody>
      </p:sp>
      <p:sp>
        <p:nvSpPr>
          <p:cNvPr id="19" name="demo-title-2">
            <a:extLst xmlns:a="http://schemas.openxmlformats.org/drawingml/2006/main">
              <a:ext uri="{FF2B5EF4-FFF2-40B4-BE49-F238E27FC236}">
                <a16:creationId xmlns:a16="http://schemas.microsoft.com/office/drawing/2014/main" id="{08146F52-B3C9-4E6D-9DA3-0758BD15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814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Coordinator app</a:t>
            </a:r>
          </a:p>
        </p:txBody>
      </p:sp>
      <p:sp>
        <p:nvSpPr>
          <p:cNvPr id="20" name="demo-note-2">
            <a:extLst xmlns:a="http://schemas.openxmlformats.org/drawingml/2006/main">
              <a:ext uri="{FF2B5EF4-FFF2-40B4-BE49-F238E27FC236}">
                <a16:creationId xmlns:a16="http://schemas.microsoft.com/office/drawing/2014/main" id="{75AC19CE-4652-44A2-B45E-DC799A6C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8140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1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11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Open Service Request, Documents tab, Evidence Reviews, PCF status, and dashboards.</a:t>
            </a:r>
          </a:p>
        </p:txBody>
      </p:sp>
      <p:sp>
        <p:nvSpPr>
          <p:cNvPr id="21" name="demo-rule-3">
            <a:extLst xmlns:a="http://schemas.openxmlformats.org/drawingml/2006/main">
              <a:ext uri="{FF2B5EF4-FFF2-40B4-BE49-F238E27FC236}">
                <a16:creationId xmlns:a16="http://schemas.microsoft.com/office/drawing/2014/main" id="{C66BF291-420B-427F-A3D4-94BC2A7D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demo-time-3">
            <a:extLst xmlns:a="http://schemas.openxmlformats.org/drawingml/2006/main">
              <a:ext uri="{FF2B5EF4-FFF2-40B4-BE49-F238E27FC236}">
                <a16:creationId xmlns:a16="http://schemas.microsoft.com/office/drawing/2014/main" id="{7CC34BCC-1ACA-4FF6-BB02-17ADD935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C"/>
          </a:solidFill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23" name="demo-time-3-text">
            <a:extLst xmlns:a="http://schemas.openxmlformats.org/drawingml/2006/main">
              <a:ext uri="{FF2B5EF4-FFF2-40B4-BE49-F238E27FC236}">
                <a16:creationId xmlns:a16="http://schemas.microsoft.com/office/drawing/2014/main" id="{B4D19491-D674-4E7E-97E0-2EC94E23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6242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7A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A43"/>
                </a:solidFill>
                <a:latin typeface="Aptos"/>
                <a:ea typeface="Aptos"/>
                <a:cs typeface="Aptos"/>
              </a:rPr>
              <a:t>9-11 min</a:t>
            </a:r>
          </a:p>
        </p:txBody>
      </p:sp>
      <p:sp>
        <p:nvSpPr>
          <p:cNvPr id="24" name="demo-title-3">
            <a:extLst xmlns:a="http://schemas.openxmlformats.org/drawingml/2006/main">
              <a:ext uri="{FF2B5EF4-FFF2-40B4-BE49-F238E27FC236}">
                <a16:creationId xmlns:a16="http://schemas.microsoft.com/office/drawing/2014/main" id="{E25D2078-3F6F-4699-9A67-8E27810E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1338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Routing Matrix</a:t>
            </a:r>
          </a:p>
        </p:txBody>
      </p:sp>
      <p:sp>
        <p:nvSpPr>
          <p:cNvPr id="25" name="demo-note-3">
            <a:extLst xmlns:a="http://schemas.openxmlformats.org/drawingml/2006/main">
              <a:ext uri="{FF2B5EF4-FFF2-40B4-BE49-F238E27FC236}">
                <a16:creationId xmlns:a16="http://schemas.microsoft.com/office/drawing/2014/main" id="{6BE27B37-5552-40E8-B756-BF6E83D0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3385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1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11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Edit a low-risk toggle, show save, then revert; explain one source of rule truth.</a:t>
            </a:r>
          </a:p>
        </p:txBody>
      </p:sp>
      <p:sp>
        <p:nvSpPr>
          <p:cNvPr id="26" name="demo-rule-4">
            <a:extLst xmlns:a="http://schemas.openxmlformats.org/drawingml/2006/main">
              <a:ext uri="{FF2B5EF4-FFF2-40B4-BE49-F238E27FC236}">
                <a16:creationId xmlns:a16="http://schemas.microsoft.com/office/drawing/2014/main" id="{FB8057DA-879A-4457-8541-01EE53F8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demo-time-4">
            <a:extLst xmlns:a="http://schemas.openxmlformats.org/drawingml/2006/main">
              <a:ext uri="{FF2B5EF4-FFF2-40B4-BE49-F238E27FC236}">
                <a16:creationId xmlns:a16="http://schemas.microsoft.com/office/drawing/2014/main" id="{6689EEC3-E58A-470E-814E-55EB0CA2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28" name="demo-time-4-text">
            <a:extLst xmlns:a="http://schemas.openxmlformats.org/drawingml/2006/main">
              <a:ext uri="{FF2B5EF4-FFF2-40B4-BE49-F238E27FC236}">
                <a16:creationId xmlns:a16="http://schemas.microsoft.com/office/drawing/2014/main" id="{D319FCFD-CB34-4328-96F5-DC594A4C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148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76B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6B00"/>
                </a:solidFill>
                <a:latin typeface="Aptos"/>
                <a:ea typeface="Aptos"/>
                <a:cs typeface="Aptos"/>
              </a:rPr>
              <a:t>11-13 min</a:t>
            </a:r>
          </a:p>
        </p:txBody>
      </p:sp>
      <p:sp>
        <p:nvSpPr>
          <p:cNvPr id="29" name="demo-title-4">
            <a:extLst xmlns:a="http://schemas.openxmlformats.org/drawingml/2006/main">
              <a:ext uri="{FF2B5EF4-FFF2-40B4-BE49-F238E27FC236}">
                <a16:creationId xmlns:a16="http://schemas.microsoft.com/office/drawing/2014/main" id="{8112E35D-1E27-47DD-9C3E-95A385F4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863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Approvals + ERP</a:t>
            </a:r>
          </a:p>
        </p:txBody>
      </p:sp>
      <p:sp>
        <p:nvSpPr>
          <p:cNvPr id="30" name="demo-note-4">
            <a:extLst xmlns:a="http://schemas.openxmlformats.org/drawingml/2006/main">
              <a:ext uri="{FF2B5EF4-FFF2-40B4-BE49-F238E27FC236}">
                <a16:creationId xmlns:a16="http://schemas.microsoft.com/office/drawing/2014/main" id="{B4A184D3-A680-4E01-9C06-943D44AE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8630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1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11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Show approval flow Try/Catch, OAuth token step, REST POST, writeback, and logs.</a:t>
            </a:r>
          </a:p>
        </p:txBody>
      </p:sp>
      <p:sp>
        <p:nvSpPr>
          <p:cNvPr id="31" name="demo-rule-5">
            <a:extLst xmlns:a="http://schemas.openxmlformats.org/drawingml/2006/main">
              <a:ext uri="{FF2B5EF4-FFF2-40B4-BE49-F238E27FC236}">
                <a16:creationId xmlns:a16="http://schemas.microsoft.com/office/drawing/2014/main" id="{B7D30B05-DDE4-43C7-B421-D8F2D932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demo-time-5">
            <a:extLst xmlns:a="http://schemas.openxmlformats.org/drawingml/2006/main">
              <a:ext uri="{FF2B5EF4-FFF2-40B4-BE49-F238E27FC236}">
                <a16:creationId xmlns:a16="http://schemas.microsoft.com/office/drawing/2014/main" id="{B509F6FC-A2E5-405B-9C31-7E1CFBD2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8D5E1"/>
            </a:solidFill>
            <a:prstDash val="solid"/>
          </a:ln>
        </p:spPr>
      </p:sp>
      <p:sp>
        <p:nvSpPr>
          <p:cNvPr id="33" name="demo-time-5-text">
            <a:extLst xmlns:a="http://schemas.openxmlformats.org/drawingml/2006/main">
              <a:ext uri="{FF2B5EF4-FFF2-40B4-BE49-F238E27FC236}">
                <a16:creationId xmlns:a16="http://schemas.microsoft.com/office/drawing/2014/main" id="{964F0955-BF6B-4DF8-A3DA-E71AC1B7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6732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76B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6B00"/>
                </a:solidFill>
                <a:latin typeface="Aptos"/>
                <a:ea typeface="Aptos"/>
                <a:cs typeface="Aptos"/>
              </a:rPr>
              <a:t>13-15 min</a:t>
            </a:r>
          </a:p>
        </p:txBody>
      </p:sp>
      <p:sp>
        <p:nvSpPr>
          <p:cNvPr id="34" name="demo-title-5">
            <a:extLst xmlns:a="http://schemas.openxmlformats.org/drawingml/2006/main">
              <a:ext uri="{FF2B5EF4-FFF2-40B4-BE49-F238E27FC236}">
                <a16:creationId xmlns:a16="http://schemas.microsoft.com/office/drawing/2014/main" id="{6C565CD7-2EB9-4185-93B0-AE54B323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387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23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231"/>
                </a:solidFill>
                <a:latin typeface="Aptos"/>
                <a:ea typeface="Aptos"/>
                <a:cs typeface="Aptos"/>
              </a:rPr>
              <a:t>Guardrail + Q&amp;A</a:t>
            </a:r>
          </a:p>
        </p:txBody>
      </p:sp>
      <p:sp>
        <p:nvSpPr>
          <p:cNvPr id="35" name="demo-note-5">
            <a:extLst xmlns:a="http://schemas.openxmlformats.org/drawingml/2006/main">
              <a:ext uri="{FF2B5EF4-FFF2-40B4-BE49-F238E27FC236}">
                <a16:creationId xmlns:a16="http://schemas.microsoft.com/office/drawing/2014/main" id="{0364065B-CD9A-4E52-B698-DD149091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3875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10" b="0">
                <a:solidFill>
                  <a:srgbClr val="5C6D80"/>
                </a:solidFill>
                <a:latin typeface="Aptos"/>
                <a:ea typeface="Aptos"/>
                <a:cs typeface="Aptos"/>
              </a:defRPr>
            </a:pPr>
            <a:r>
              <a:rPr sz="1110" b="0">
                <a:solidFill>
                  <a:srgbClr val="5C6D80"/>
                </a:solidFill>
                <a:latin typeface="Aptos"/>
                <a:ea typeface="Aptos"/>
                <a:cs typeface="Aptos"/>
              </a:rPr>
              <a:t>Show critical close block and defend plugin vs Flow / evidence vs checkbox choices.</a:t>
            </a:r>
          </a:p>
        </p:txBody>
      </p:sp>
      <p:sp>
        <p:nvSpPr>
          <p:cNvPr id="36" name="demo-safe-note">
            <a:extLst xmlns:a="http://schemas.openxmlformats.org/drawingml/2006/main">
              <a:ext uri="{FF2B5EF4-FFF2-40B4-BE49-F238E27FC236}">
                <a16:creationId xmlns:a16="http://schemas.microsoft.com/office/drawing/2014/main" id="{5BDE7967-1049-411B-96A1-A5578FF0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15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03B66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003B66"/>
                </a:solidFill>
                <a:latin typeface="Aptos"/>
                <a:ea typeface="Aptos"/>
                <a:cs typeface="Aptos"/>
              </a:rPr>
              <a:t>Safe live-change rule: any matrix edit shown during the demo is reverted immediately after the saved status appears.</a:t>
            </a:r>
          </a:p>
        </p:txBody>
      </p:sp>
      <p:sp>
        <p:nvSpPr>
          <p:cNvPr id="3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DFAB71D-D8F1-467B-9D99-4B7C3618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AAA10D25-3D9F-4EC3-9095-995205F7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C8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C8E"/>
                </a:solidFill>
                <a:latin typeface="Aptos"/>
                <a:ea typeface="Aptos"/>
                <a:cs typeface="Aptos"/>
              </a:rPr>
              <a:t>Enterprise Service Intake | Power Platform Senior Developer take-home | May 2026</a:t>
            </a:r>
          </a:p>
        </p:txBody>
      </p:sp>
      <p:sp>
        <p:nvSpPr>
          <p:cNvPr id="3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51D3D8E-0533-4F59-AB3C-89303E7E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C8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C8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2064337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9229B95-49EB-4995-B1B5-0A5C2FDA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close-blue-rail">
            <a:extLst xmlns:a="http://schemas.openxmlformats.org/drawingml/2006/main">
              <a:ext uri="{FF2B5EF4-FFF2-40B4-BE49-F238E27FC236}">
                <a16:creationId xmlns:a16="http://schemas.microsoft.com/office/drawing/2014/main" id="{ED59A433-7A56-43B0-8592-51662D24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27A5F2B4-606A-49F9-9068-DAEA1551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What I would defend in the review</a:t>
            </a:r>
          </a:p>
        </p:txBody>
      </p:sp>
      <p:sp>
        <p:nvSpPr>
          <p:cNvPr id="4" name="close-subtitle">
            <a:extLst xmlns:a="http://schemas.openxmlformats.org/drawingml/2006/main">
              <a:ext uri="{FF2B5EF4-FFF2-40B4-BE49-F238E27FC236}">
                <a16:creationId xmlns:a16="http://schemas.microsoft.com/office/drawing/2014/main" id="{040E903F-A82A-48CC-B499-74ED40CD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FE2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FE2FF"/>
                </a:solidFill>
                <a:latin typeface="Aptos"/>
                <a:ea typeface="Aptos"/>
                <a:cs typeface="Aptos"/>
              </a:rPr>
              <a:t>The decisions are intentionally split by enforcement boundary: Dataverse for state, plugins for non-bypassable rules, Flow for human/integration orchestration, and Power Pages for customer intake.</a:t>
            </a:r>
          </a:p>
        </p:txBody>
      </p:sp>
      <p:sp>
        <p:nvSpPr>
          <p:cNvPr id="5" name="qa-table">
            <a:extLst xmlns:a="http://schemas.openxmlformats.org/drawingml/2006/main">
              <a:ext uri="{FF2B5EF4-FFF2-40B4-BE49-F238E27FC236}">
                <a16:creationId xmlns:a16="http://schemas.microsoft.com/office/drawing/2014/main" id="{5D620B56-ECB7-4FF1-86F5-2083D15B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7429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1"/>
          </a:solidFill>
          <a:ln xmlns:a="http://schemas.openxmlformats.org/drawingml/2006/main" w="9525">
            <a:solidFill>
              <a:srgbClr val="2D75A0"/>
            </a:solidFill>
            <a:prstDash val="solid"/>
          </a:ln>
        </p:spPr>
      </p:sp>
      <p:sp>
        <p:nvSpPr>
          <p:cNvPr id="6" name="qa-q-0">
            <a:extLst xmlns:a="http://schemas.openxmlformats.org/drawingml/2006/main">
              <a:ext uri="{FF2B5EF4-FFF2-40B4-BE49-F238E27FC236}">
                <a16:creationId xmlns:a16="http://schemas.microsoft.com/office/drawing/2014/main" id="{0736150B-5848-4CBC-A792-847B28EA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plugin for routing?</a:t>
            </a:r>
          </a:p>
        </p:txBody>
      </p:sp>
      <p:sp>
        <p:nvSpPr>
          <p:cNvPr id="7" name="qa-a-0">
            <a:extLst xmlns:a="http://schemas.openxmlformats.org/drawingml/2006/main">
              <a:ext uri="{FF2B5EF4-FFF2-40B4-BE49-F238E27FC236}">
                <a16:creationId xmlns:a16="http://schemas.microsoft.com/office/drawing/2014/main" id="{A6CC8D5F-A616-45D8-9C69-CFBCED61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5745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DFF1FF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DFF1FF"/>
                </a:solidFill>
                <a:latin typeface="Aptos"/>
                <a:ea typeface="Aptos"/>
                <a:cs typeface="Aptos"/>
              </a:rPr>
              <a:t>Routing is transactional and must apply equally from portal, app, API, import, and automation.</a:t>
            </a:r>
          </a:p>
        </p:txBody>
      </p:sp>
      <p:sp>
        <p:nvSpPr>
          <p:cNvPr id="8" name="qa-rule-1">
            <a:extLst xmlns:a="http://schemas.openxmlformats.org/drawingml/2006/main">
              <a:ext uri="{FF2B5EF4-FFF2-40B4-BE49-F238E27FC236}">
                <a16:creationId xmlns:a16="http://schemas.microsoft.com/office/drawing/2014/main" id="{7F8C099B-53CA-43B7-988F-625E63B7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0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qa-q-1">
            <a:extLst xmlns:a="http://schemas.openxmlformats.org/drawingml/2006/main">
              <a:ext uri="{FF2B5EF4-FFF2-40B4-BE49-F238E27FC236}">
                <a16:creationId xmlns:a16="http://schemas.microsoft.com/office/drawing/2014/main" id="{9E2FF087-7822-406C-B75A-C14127AE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Flow for approval and ERP?</a:t>
            </a:r>
          </a:p>
        </p:txBody>
      </p:sp>
      <p:sp>
        <p:nvSpPr>
          <p:cNvPr id="10" name="qa-a-1">
            <a:extLst xmlns:a="http://schemas.openxmlformats.org/drawingml/2006/main">
              <a:ext uri="{FF2B5EF4-FFF2-40B4-BE49-F238E27FC236}">
                <a16:creationId xmlns:a16="http://schemas.microsoft.com/office/drawing/2014/main" id="{60555504-C930-4BE5-B295-8FF5F5ED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7180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DFF1FF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DFF1FF"/>
                </a:solidFill>
                <a:latin typeface="Aptos"/>
                <a:ea typeface="Aptos"/>
                <a:cs typeface="Aptos"/>
              </a:rPr>
              <a:t>Approvals, HTTP calls, retries, and run history are better served by orchestration with Try/Catch scopes.</a:t>
            </a:r>
          </a:p>
        </p:txBody>
      </p:sp>
      <p:sp>
        <p:nvSpPr>
          <p:cNvPr id="11" name="qa-rule-2">
            <a:extLst xmlns:a="http://schemas.openxmlformats.org/drawingml/2006/main">
              <a:ext uri="{FF2B5EF4-FFF2-40B4-BE49-F238E27FC236}">
                <a16:creationId xmlns:a16="http://schemas.microsoft.com/office/drawing/2014/main" id="{B1EE4893-21CD-4B68-9615-9E79C788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0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qa-q-2">
            <a:extLst xmlns:a="http://schemas.openxmlformats.org/drawingml/2006/main">
              <a:ext uri="{FF2B5EF4-FFF2-40B4-BE49-F238E27FC236}">
                <a16:creationId xmlns:a16="http://schemas.microsoft.com/office/drawing/2014/main" id="{D03A6DBC-0AB4-4A54-A4C5-43C00D89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exact matrix?</a:t>
            </a:r>
          </a:p>
        </p:txBody>
      </p:sp>
      <p:sp>
        <p:nvSpPr>
          <p:cNvPr id="13" name="qa-a-2">
            <a:extLst xmlns:a="http://schemas.openxmlformats.org/drawingml/2006/main">
              <a:ext uri="{FF2B5EF4-FFF2-40B4-BE49-F238E27FC236}">
                <a16:creationId xmlns:a16="http://schemas.microsoft.com/office/drawing/2014/main" id="{8F41725D-10E5-4D22-ACB4-0DAC2E97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48615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DFF1FF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DFF1FF"/>
                </a:solidFill>
                <a:latin typeface="Aptos"/>
                <a:ea typeface="Aptos"/>
                <a:cs typeface="Aptos"/>
              </a:rPr>
              <a:t>Admins can audit and edit every category/impact/urgency outcome without hidden frontend thresholds.</a:t>
            </a:r>
          </a:p>
        </p:txBody>
      </p:sp>
      <p:sp>
        <p:nvSpPr>
          <p:cNvPr id="14" name="qa-rule-3">
            <a:extLst xmlns:a="http://schemas.openxmlformats.org/drawingml/2006/main">
              <a:ext uri="{FF2B5EF4-FFF2-40B4-BE49-F238E27FC236}">
                <a16:creationId xmlns:a16="http://schemas.microsoft.com/office/drawing/2014/main" id="{ED0785F6-BD74-45DC-9390-EAB96879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0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qa-q-3">
            <a:extLst xmlns:a="http://schemas.openxmlformats.org/drawingml/2006/main">
              <a:ext uri="{FF2B5EF4-FFF2-40B4-BE49-F238E27FC236}">
                <a16:creationId xmlns:a16="http://schemas.microsoft.com/office/drawing/2014/main" id="{6215A18D-BAED-40C8-A4D1-83AA6F5E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Evidence Reviews?</a:t>
            </a:r>
          </a:p>
        </p:txBody>
      </p:sp>
      <p:sp>
        <p:nvSpPr>
          <p:cNvPr id="16" name="qa-a-3">
            <a:extLst xmlns:a="http://schemas.openxmlformats.org/drawingml/2006/main">
              <a:ext uri="{FF2B5EF4-FFF2-40B4-BE49-F238E27FC236}">
                <a16:creationId xmlns:a16="http://schemas.microsoft.com/office/drawing/2014/main" id="{D1AD295C-E5B7-4D44-86D8-470D1E26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0050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DFF1FF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DFF1FF"/>
                </a:solidFill>
                <a:latin typeface="Aptos"/>
                <a:ea typeface="Aptos"/>
                <a:cs typeface="Aptos"/>
              </a:rPr>
              <a:t>SharePoint stores files; Dataverse owns review metadata, accepted evidence status, and closure policy inputs.</a:t>
            </a:r>
          </a:p>
        </p:txBody>
      </p:sp>
      <p:sp>
        <p:nvSpPr>
          <p:cNvPr id="17" name="qa-rule-4">
            <a:extLst xmlns:a="http://schemas.openxmlformats.org/drawingml/2006/main">
              <a:ext uri="{FF2B5EF4-FFF2-40B4-BE49-F238E27FC236}">
                <a16:creationId xmlns:a16="http://schemas.microsoft.com/office/drawing/2014/main" id="{1DEC0103-83E1-442C-82D2-198D8BE8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0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qa-q-4">
            <a:extLst xmlns:a="http://schemas.openxmlformats.org/drawingml/2006/main">
              <a:ext uri="{FF2B5EF4-FFF2-40B4-BE49-F238E27FC236}">
                <a16:creationId xmlns:a16="http://schemas.microsoft.com/office/drawing/2014/main" id="{ADBA0D36-07DC-4664-8D04-232FDE9C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How is security handled?</a:t>
            </a:r>
          </a:p>
        </p:txBody>
      </p:sp>
      <p:sp>
        <p:nvSpPr>
          <p:cNvPr id="19" name="qa-a-4">
            <a:extLst xmlns:a="http://schemas.openxmlformats.org/drawingml/2006/main">
              <a:ext uri="{FF2B5EF4-FFF2-40B4-BE49-F238E27FC236}">
                <a16:creationId xmlns:a16="http://schemas.microsoft.com/office/drawing/2014/main" id="{A520165F-71FD-4CBF-A22A-47880CAC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1485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DFF1FF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DFF1FF"/>
                </a:solidFill>
                <a:latin typeface="Aptos"/>
                <a:ea typeface="Aptos"/>
                <a:cs typeface="Aptos"/>
              </a:rPr>
              <a:t>Contact-scoped portal access, field allowlists, plugin protected-field policy, and secrets outside Git.</a:t>
            </a:r>
          </a:p>
        </p:txBody>
      </p:sp>
      <p:sp>
        <p:nvSpPr>
          <p:cNvPr id="20" name="reviewer-card">
            <a:extLst xmlns:a="http://schemas.openxmlformats.org/drawingml/2006/main">
              <a:ext uri="{FF2B5EF4-FFF2-40B4-BE49-F238E27FC236}">
                <a16:creationId xmlns:a16="http://schemas.microsoft.com/office/drawing/2014/main" id="{6DC561D7-983B-4E2A-A738-C96BD2E0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47900"/>
            <a:ext cx="2476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1"/>
          </a:solidFill>
          <a:ln xmlns:a="http://schemas.openxmlformats.org/drawingml/2006/main" w="9525">
            <a:solidFill>
              <a:srgbClr val="2D75A0"/>
            </a:solidFill>
            <a:prstDash val="solid"/>
          </a:ln>
        </p:spPr>
      </p:sp>
      <p:sp>
        <p:nvSpPr>
          <p:cNvPr id="21" name="reviewer-title">
            <a:extLst xmlns:a="http://schemas.openxmlformats.org/drawingml/2006/main">
              <a:ext uri="{FF2B5EF4-FFF2-40B4-BE49-F238E27FC236}">
                <a16:creationId xmlns:a16="http://schemas.microsoft.com/office/drawing/2014/main" id="{E14C0B0E-A4C5-4CB3-9370-901992FB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765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Reviewer path</a:t>
            </a:r>
          </a:p>
        </p:txBody>
      </p:sp>
      <p:sp>
        <p:nvSpPr>
          <p:cNvPr id="22" name="reviewer-pages">
            <a:extLst xmlns:a="http://schemas.openxmlformats.org/drawingml/2006/main">
              <a:ext uri="{FF2B5EF4-FFF2-40B4-BE49-F238E27FC236}">
                <a16:creationId xmlns:a16="http://schemas.microsoft.com/office/drawing/2014/main" id="{D080A3CB-D870-447A-A8D2-A5A07793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146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7A"/>
          </a:solidFill>
          <a:ln xmlns:a="http://schemas.openxmlformats.org/drawingml/2006/main" w="9525">
            <a:solidFill>
              <a:srgbClr val="2D75A0"/>
            </a:solidFill>
            <a:prstDash val="solid"/>
          </a:ln>
        </p:spPr>
      </p:sp>
      <p:sp>
        <p:nvSpPr>
          <p:cNvPr id="23" name="reviewer-pages-text">
            <a:extLst xmlns:a="http://schemas.openxmlformats.org/drawingml/2006/main">
              <a:ext uri="{FF2B5EF4-FFF2-40B4-BE49-F238E27FC236}">
                <a16:creationId xmlns:a16="http://schemas.microsoft.com/office/drawing/2014/main" id="{33BC9286-57FA-492D-93D8-09F7DB32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62275"/>
            <a:ext cx="933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FF1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FF1FF"/>
                </a:solidFill>
                <a:latin typeface="Aptos"/>
                <a:ea typeface="Aptos"/>
                <a:cs typeface="Aptos"/>
              </a:rPr>
              <a:t>Power Pages</a:t>
            </a:r>
          </a:p>
        </p:txBody>
      </p:sp>
      <p:sp>
        <p:nvSpPr>
          <p:cNvPr id="24" name="reviewer-app">
            <a:extLst xmlns:a="http://schemas.openxmlformats.org/drawingml/2006/main">
              <a:ext uri="{FF2B5EF4-FFF2-40B4-BE49-F238E27FC236}">
                <a16:creationId xmlns:a16="http://schemas.microsoft.com/office/drawing/2014/main" id="{A3AADF02-C160-4D43-85F2-46A1D07E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91465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7A"/>
          </a:solidFill>
          <a:ln xmlns:a="http://schemas.openxmlformats.org/drawingml/2006/main" w="9525">
            <a:solidFill>
              <a:srgbClr val="2D75A0"/>
            </a:solidFill>
            <a:prstDash val="solid"/>
          </a:ln>
        </p:spPr>
      </p:sp>
      <p:sp>
        <p:nvSpPr>
          <p:cNvPr id="25" name="reviewer-app-text">
            <a:extLst xmlns:a="http://schemas.openxmlformats.org/drawingml/2006/main">
              <a:ext uri="{FF2B5EF4-FFF2-40B4-BE49-F238E27FC236}">
                <a16:creationId xmlns:a16="http://schemas.microsoft.com/office/drawing/2014/main" id="{A9BA033A-B756-4F53-B7F0-955AA2BC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962275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FF1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FF1FF"/>
                </a:solidFill>
                <a:latin typeface="Aptos"/>
                <a:ea typeface="Aptos"/>
                <a:cs typeface="Aptos"/>
              </a:rPr>
              <a:t>Model app</a:t>
            </a:r>
          </a:p>
        </p:txBody>
      </p:sp>
      <p:sp>
        <p:nvSpPr>
          <p:cNvPr id="26" name="reviewer-details">
            <a:extLst xmlns:a="http://schemas.openxmlformats.org/drawingml/2006/main">
              <a:ext uri="{FF2B5EF4-FFF2-40B4-BE49-F238E27FC236}">
                <a16:creationId xmlns:a16="http://schemas.microsoft.com/office/drawing/2014/main" id="{1B2E1EE2-B091-4145-A242-A41244A4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09950"/>
            <a:ext cx="1981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BFE2FF"/>
                </a:solidFill>
                <a:latin typeface="Aptos Mono"/>
                <a:ea typeface="Aptos Mono"/>
                <a:cs typeface="Aptos Mono"/>
              </a:defRPr>
            </a:pPr>
            <a:r>
              <a:rPr sz="1005" b="0">
                <a:solidFill>
                  <a:srgbClr val="BFE2FF"/>
                </a:solidFill>
                <a:latin typeface="Aptos Mono"/>
                <a:ea typeface="Aptos Mono"/>
                <a:cs typeface="Aptos Mono"/>
              </a:rPr>
              <a:t>Repository: helloxtech/EnterpriseServiceIntake</a:t>
            </a:r>
          </a:p>
          <a:p xmlns:a="http://schemas.openxmlformats.org/drawingml/2006/main">
            <a:pPr algn="l">
              <a:defRPr sz="1005" b="0">
                <a:solidFill>
                  <a:srgbClr val="BFE2FF"/>
                </a:solidFill>
                <a:latin typeface="Aptos Mono"/>
                <a:ea typeface="Aptos Mono"/>
                <a:cs typeface="Aptos Mono"/>
              </a:defRPr>
            </a:pPr>
            <a:r>
              <a:rPr sz="1005" b="0">
                <a:solidFill>
                  <a:srgbClr val="BFE2FF"/>
                </a:solidFill>
                <a:latin typeface="Aptos Mono"/>
                <a:ea typeface="Aptos Mono"/>
                <a:cs typeface="Aptos Mono"/>
              </a:rPr>
              <a:t>Accounts: agent, manager, admin reviewer</a:t>
            </a:r>
          </a:p>
          <a:p xmlns:a="http://schemas.openxmlformats.org/drawingml/2006/main">
            <a:pPr algn="l">
              <a:defRPr sz="1005" b="0">
                <a:solidFill>
                  <a:srgbClr val="BFE2FF"/>
                </a:solidFill>
                <a:latin typeface="Aptos Mono"/>
                <a:ea typeface="Aptos Mono"/>
                <a:cs typeface="Aptos Mono"/>
              </a:defRPr>
            </a:pPr>
            <a:r>
              <a:rPr sz="1005" b="0">
                <a:solidFill>
                  <a:srgbClr val="BFE2FF"/>
                </a:solidFill>
                <a:latin typeface="Aptos Mono"/>
                <a:ea typeface="Aptos Mono"/>
                <a:cs typeface="Aptos Mono"/>
              </a:rPr>
              <a:t>Passwords and secrets shared separately by admin</a:t>
            </a:r>
          </a:p>
        </p:txBody>
      </p:sp>
      <p:sp>
        <p:nvSpPr>
          <p:cNvPr id="27" name="reviewer-closeout">
            <a:extLst xmlns:a="http://schemas.openxmlformats.org/drawingml/2006/main">
              <a:ext uri="{FF2B5EF4-FFF2-40B4-BE49-F238E27FC236}">
                <a16:creationId xmlns:a16="http://schemas.microsoft.com/office/drawing/2014/main" id="{F3DFF87D-4DE4-4DC6-B2F2-076320D6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57700"/>
            <a:ext cx="1981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Close-out: the solution is ready to demonstrate portal submission, exact-match routing, approval/ERP sync, catch logging, and critical-request guardrails.</a:t>
            </a:r>
          </a:p>
        </p:txBody>
      </p:sp>
      <p:sp>
        <p:nvSpPr>
          <p:cNvPr id="2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80C7ACB-62BD-4D10-AF2E-43B19892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0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28B02A2A-55AD-4EA0-A853-FA16EFFA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E2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FE2FF"/>
                </a:solidFill>
                <a:latin typeface="Aptos"/>
                <a:ea typeface="Aptos"/>
                <a:cs typeface="Aptos"/>
              </a:rPr>
              <a:t>Enterprise Service Intake | Power Platform Senior Developer take-home | May 2026</a:t>
            </a:r>
          </a:p>
        </p:txBody>
      </p:sp>
      <p:sp>
        <p:nvSpPr>
          <p:cNvPr id="3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39646E0-752A-4490-A8C8-752ACB9F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FE2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E2F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216908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2026-05-22T08:08:12.0920000Z</dcterms:created>
  <dcterms:modified xsi:type="dcterms:W3CDTF">2026-05-22T08:08:12.0920000Z</dcterms:modified>
</coreProperties>
</file>